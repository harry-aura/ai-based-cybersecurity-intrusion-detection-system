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Lst>
  <ns0:sldSz cx="12192000" cy="6858000" type="screen4x3"/>
  <ns0:notesSz cx="6858000" cy="9144000"/>
  <ns0:embeddedFontLst>
    <ns0:embeddedFont>
      <ns0:font typeface="Plus Jakarta Sans"/>
      <ns0:bold ns1:id="rIdFont22"/>
      <ns0:italic ns1:id="rIdFont23"/>
      <ns0:regular ns1:id="rIdFont24"/>
    </ns0:embeddedFont>
    <ns0:embeddedFont>
      <ns0:font typeface="Space Grotesk"/>
      <ns0:bold ns1:id="rIdFont25"/>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Font22" Type="http://schemas.openxmlformats.org/officeDocument/2006/relationships/font" Target="fonts/aec8892d-014a-41d2-9e22-c7822195c5aa.fntdata" /><ns0:Relationship Id="rIdFont23" Type="http://schemas.openxmlformats.org/officeDocument/2006/relationships/font" Target="fonts/474b226c-becf-4b2c-85f4-069fd8a1dcd7.fntdata" /><ns0:Relationship Id="rIdFont24" Type="http://schemas.openxmlformats.org/officeDocument/2006/relationships/font" Target="fonts/bacad934-3bb1-4347-a6e5-1a79cbd0770e.fntdata" /><ns0:Relationship Id="rIdFont25" Type="http://schemas.openxmlformats.org/officeDocument/2006/relationships/font" Target="fonts/1e9d4517-5c4c-4cc5-87e5-d373c0825418.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33400" y="5648325"/>
            <a:ext cx="11125200" cy="7524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15525" y="457200"/>
            <a:ext cx="1743075" cy="276225"/>
          </a:xfrm>
          <a:prstGeom prst="roundRect">
            <a:avLst>
              <a:gd name="adj" fmla="val 20689"/>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5648325"/>
            <a:ext cx="111252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48875" y="514350"/>
            <a:ext cx="1571625" cy="161925"/>
          </a:xfrm>
          <a:prstGeom prst="rect">
            <a:avLst/>
          </a:prstGeom>
          <a:noFill/>
        </p:spPr>
        <p:txBody>
          <a:bodyPr wrap="square" lIns="0" rIns="0" tIns="0" bIns="0" anchor="t">
            <a:spAutoFit/>
          </a:bodyPr>
          <a:lstStyle/>
          <a:p>
            <a:pPr algn="l"/>
            <a:r>
              <a:rPr b="1" sz="900" i="0" u="none">
                <a:solidFill>
                  <a:srgbClr val="94A3B8"/>
                </a:solidFill>
                <a:latin typeface="Plus Jakarta Sans"/>
              </a:rPr>
              <a:t>Review 1 • Team 30 • Sec-1</a:t>
            </a:r>
          </a:p>
        </p:txBody>
      </p:sp>
      <p:sp>
        <p:nvSpPr>
          <p:cNvPr id="6" name="TextBox 5"/>
          <p:cNvSpPr txBox="1"/>
          <p:nvPr/>
        </p:nvSpPr>
        <p:spPr>
          <a:xfrm>
            <a:off x="533400" y="2463254"/>
            <a:ext cx="11658600" cy="171450"/>
          </a:xfrm>
          <a:prstGeom prst="rect">
            <a:avLst/>
          </a:prstGeom>
          <a:noFill/>
        </p:spPr>
        <p:txBody>
          <a:bodyPr wrap="none" lIns="0" rIns="0" tIns="0" bIns="0" anchor="t">
            <a:spAutoFit/>
          </a:bodyPr>
          <a:lstStyle/>
          <a:p>
            <a:pPr algn="l"/>
            <a:r>
              <a:rPr b="1" sz="1050" i="0" u="none">
                <a:solidFill>
                  <a:srgbClr val="38BDF8"/>
                </a:solidFill>
                <a:latin typeface="Plus Jakarta Sans"/>
              </a:rPr>
              <a:t>MINOR PROJECT PRESENTATION</a:t>
            </a:r>
          </a:p>
        </p:txBody>
      </p:sp>
      <p:sp>
        <p:nvSpPr>
          <p:cNvPr id="7" name="TextBox 6"/>
          <p:cNvSpPr txBox="1"/>
          <p:nvPr/>
        </p:nvSpPr>
        <p:spPr>
          <a:xfrm>
            <a:off x="533400" y="2729954"/>
            <a:ext cx="10601325" cy="959941"/>
          </a:xfrm>
          <a:prstGeom prst="rect">
            <a:avLst/>
          </a:prstGeom>
          <a:noFill/>
        </p:spPr>
        <p:txBody>
          <a:bodyPr wrap="square" lIns="0" rIns="0" tIns="0" bIns="0" anchor="t">
            <a:spAutoFit/>
          </a:bodyPr>
          <a:lstStyle/>
          <a:p>
            <a:pPr algn="l">
              <a:lnSpc>
                <a:spcPts val="3779"/>
              </a:lnSpc>
            </a:pPr>
            <a:r>
              <a:rPr b="1" sz="3150" i="0" u="none">
                <a:solidFill>
                  <a:srgbClr val="FFFFFF"/>
                </a:solidFill>
                <a:latin typeface="Space Grotesk"/>
              </a:rPr>
              <a:t>AI-Based Network Intrusion Detection System with Real-Time Serving &amp; Monitoring</a:t>
            </a:r>
          </a:p>
        </p:txBody>
      </p:sp>
      <p:sp>
        <p:nvSpPr>
          <p:cNvPr id="8" name="TextBox 7"/>
          <p:cNvSpPr txBox="1"/>
          <p:nvPr/>
        </p:nvSpPr>
        <p:spPr>
          <a:xfrm>
            <a:off x="533400" y="3804195"/>
            <a:ext cx="8191500" cy="400050"/>
          </a:xfrm>
          <a:prstGeom prst="rect">
            <a:avLst/>
          </a:prstGeom>
          <a:noFill/>
        </p:spPr>
        <p:txBody>
          <a:bodyPr wrap="square" lIns="0" rIns="0" tIns="0" bIns="0" anchor="t">
            <a:spAutoFit/>
          </a:bodyPr>
          <a:lstStyle/>
          <a:p>
            <a:pPr algn="l"/>
            <a:r>
              <a:rPr b="0" sz="1200" i="0" u="none">
                <a:solidFill>
                  <a:srgbClr val="94A3B8"/>
                </a:solidFill>
                <a:latin typeface="Plus Jakarta Sans"/>
              </a:rPr>
              <a:t>An end-to-end intrusion classifier utilizing NSL-KDD telemetry, high-performance FastAPI serving, and interactive security dashboard.</a:t>
            </a:r>
          </a:p>
        </p:txBody>
      </p:sp>
      <p:sp>
        <p:nvSpPr>
          <p:cNvPr id="9" name="TextBox 8"/>
          <p:cNvSpPr txBox="1"/>
          <p:nvPr/>
        </p:nvSpPr>
        <p:spPr>
          <a:xfrm>
            <a:off x="533400" y="457200"/>
            <a:ext cx="5107781" cy="152400"/>
          </a:xfrm>
          <a:prstGeom prst="rect">
            <a:avLst/>
          </a:prstGeom>
          <a:noFill/>
        </p:spPr>
        <p:txBody>
          <a:bodyPr wrap="none" lIns="0" rIns="0" tIns="0" bIns="0" anchor="t">
            <a:spAutoFit/>
          </a:bodyPr>
          <a:lstStyle/>
          <a:p>
            <a:pPr algn="l"/>
            <a:r>
              <a:rPr b="1" sz="975" i="0" u="none">
                <a:solidFill>
                  <a:srgbClr val="EF4444"/>
                </a:solidFill>
                <a:latin typeface="Plus Jakarta Sans"/>
              </a:rPr>
              <a:t>KL UNIVERSITY • BACHUPALLY CAMPUS, HYDERABAD</a:t>
            </a:r>
          </a:p>
        </p:txBody>
      </p:sp>
      <p:sp>
        <p:nvSpPr>
          <p:cNvPr id="10" name="TextBox 9"/>
          <p:cNvSpPr txBox="1"/>
          <p:nvPr/>
        </p:nvSpPr>
        <p:spPr>
          <a:xfrm>
            <a:off x="533400" y="647700"/>
            <a:ext cx="5107781" cy="171450"/>
          </a:xfrm>
          <a:prstGeom prst="rect">
            <a:avLst/>
          </a:prstGeom>
          <a:noFill/>
        </p:spPr>
        <p:txBody>
          <a:bodyPr wrap="none" lIns="0" rIns="0" tIns="0" bIns="0" anchor="t">
            <a:spAutoFit/>
          </a:bodyPr>
          <a:lstStyle/>
          <a:p>
            <a:pPr algn="l"/>
            <a:r>
              <a:rPr b="0" sz="1050" i="0" u="none">
                <a:solidFill>
                  <a:srgbClr val="CBD5E1"/>
                </a:solidFill>
                <a:latin typeface="Plus Jakarta Sans"/>
              </a:rPr>
              <a:t>Department of Computer Science &amp; Engineering</a:t>
            </a:r>
          </a:p>
        </p:txBody>
      </p:sp>
      <p:sp>
        <p:nvSpPr>
          <p:cNvPr id="11" name="TextBox 10"/>
          <p:cNvSpPr txBox="1"/>
          <p:nvPr/>
        </p:nvSpPr>
        <p:spPr>
          <a:xfrm>
            <a:off x="533400" y="5848350"/>
            <a:ext cx="2607468" cy="123825"/>
          </a:xfrm>
          <a:prstGeom prst="rect">
            <a:avLst/>
          </a:prstGeom>
          <a:noFill/>
        </p:spPr>
        <p:txBody>
          <a:bodyPr wrap="none" lIns="0" rIns="0" tIns="0" bIns="0" anchor="t">
            <a:spAutoFit/>
          </a:bodyPr>
          <a:lstStyle/>
          <a:p>
            <a:pPr algn="l"/>
            <a:r>
              <a:rPr b="1" sz="825" i="0" u="none">
                <a:solidFill>
                  <a:srgbClr val="94A3B8"/>
                </a:solidFill>
                <a:latin typeface="Plus Jakarta Sans"/>
              </a:rPr>
              <a:t>PRESENTED BY</a:t>
            </a:r>
          </a:p>
        </p:txBody>
      </p:sp>
      <p:sp>
        <p:nvSpPr>
          <p:cNvPr id="12" name="TextBox 11"/>
          <p:cNvSpPr txBox="1"/>
          <p:nvPr/>
        </p:nvSpPr>
        <p:spPr>
          <a:xfrm>
            <a:off x="533400" y="6029325"/>
            <a:ext cx="2607468" cy="171450"/>
          </a:xfrm>
          <a:prstGeom prst="rect">
            <a:avLst/>
          </a:prstGeom>
          <a:noFill/>
        </p:spPr>
        <p:txBody>
          <a:bodyPr wrap="none" lIns="0" rIns="0" tIns="0" bIns="0" anchor="t">
            <a:spAutoFit/>
          </a:bodyPr>
          <a:lstStyle/>
          <a:p>
            <a:pPr algn="l"/>
            <a:r>
              <a:rPr b="1" sz="1050" i="0" u="none">
                <a:solidFill>
                  <a:srgbClr val="FFFFFF"/>
                </a:solidFill>
                <a:latin typeface="Plus Jakarta Sans"/>
              </a:rPr>
              <a:t>2520030203 — Harivikash Katta</a:t>
            </a:r>
          </a:p>
        </p:txBody>
      </p:sp>
      <p:sp>
        <p:nvSpPr>
          <p:cNvPr id="13" name="TextBox 12"/>
          <p:cNvSpPr txBox="1"/>
          <p:nvPr/>
        </p:nvSpPr>
        <p:spPr>
          <a:xfrm>
            <a:off x="533400" y="6229350"/>
            <a:ext cx="2607468" cy="171450"/>
          </a:xfrm>
          <a:prstGeom prst="rect">
            <a:avLst/>
          </a:prstGeom>
          <a:noFill/>
        </p:spPr>
        <p:txBody>
          <a:bodyPr wrap="none" lIns="0" rIns="0" tIns="0" bIns="0" anchor="t">
            <a:spAutoFit/>
          </a:bodyPr>
          <a:lstStyle/>
          <a:p>
            <a:pPr algn="l"/>
            <a:r>
              <a:rPr b="1" sz="1050" i="0" u="none">
                <a:solidFill>
                  <a:srgbClr val="FFFFFF"/>
                </a:solidFill>
                <a:latin typeface="Plus Jakarta Sans"/>
              </a:rPr>
              <a:t>2520030196 — Navadeep</a:t>
            </a:r>
          </a:p>
        </p:txBody>
      </p:sp>
      <p:sp>
        <p:nvSpPr>
          <p:cNvPr id="14" name="TextBox 13"/>
          <p:cNvSpPr txBox="1"/>
          <p:nvPr/>
        </p:nvSpPr>
        <p:spPr>
          <a:xfrm>
            <a:off x="5219700" y="5886450"/>
            <a:ext cx="2964656" cy="123825"/>
          </a:xfrm>
          <a:prstGeom prst="rect">
            <a:avLst/>
          </a:prstGeom>
          <a:noFill/>
        </p:spPr>
        <p:txBody>
          <a:bodyPr wrap="none" lIns="0" rIns="0" tIns="0" bIns="0" anchor="t">
            <a:spAutoFit/>
          </a:bodyPr>
          <a:lstStyle/>
          <a:p>
            <a:pPr algn="l"/>
            <a:r>
              <a:rPr b="1" sz="825" i="0" u="none">
                <a:solidFill>
                  <a:srgbClr val="94A3B8"/>
                </a:solidFill>
                <a:latin typeface="Plus Jakarta Sans"/>
              </a:rPr>
              <a:t>UNDER THE GUIDANCE OF</a:t>
            </a:r>
          </a:p>
        </p:txBody>
      </p:sp>
      <p:sp>
        <p:nvSpPr>
          <p:cNvPr id="15" name="TextBox 14"/>
          <p:cNvSpPr txBox="1"/>
          <p:nvPr/>
        </p:nvSpPr>
        <p:spPr>
          <a:xfrm>
            <a:off x="5219700" y="6067425"/>
            <a:ext cx="2964656" cy="180975"/>
          </a:xfrm>
          <a:prstGeom prst="rect">
            <a:avLst/>
          </a:prstGeom>
          <a:noFill/>
        </p:spPr>
        <p:txBody>
          <a:bodyPr wrap="none" lIns="0" rIns="0" tIns="0" bIns="0" anchor="t">
            <a:spAutoFit/>
          </a:bodyPr>
          <a:lstStyle/>
          <a:p>
            <a:pPr algn="l"/>
            <a:r>
              <a:rPr b="1" sz="1125" i="0" u="none">
                <a:solidFill>
                  <a:srgbClr val="FFFFFF"/>
                </a:solidFill>
                <a:latin typeface="Plus Jakarta Sans"/>
              </a:rPr>
              <a:t>Dr. G. S. Raghavendra</a:t>
            </a:r>
          </a:p>
        </p:txBody>
      </p:sp>
      <p:sp>
        <p:nvSpPr>
          <p:cNvPr id="16" name="TextBox 15"/>
          <p:cNvSpPr txBox="1"/>
          <p:nvPr/>
        </p:nvSpPr>
        <p:spPr>
          <a:xfrm>
            <a:off x="5219700" y="6248400"/>
            <a:ext cx="2964656" cy="152400"/>
          </a:xfrm>
          <a:prstGeom prst="rect">
            <a:avLst/>
          </a:prstGeom>
          <a:noFill/>
        </p:spPr>
        <p:txBody>
          <a:bodyPr wrap="none" lIns="0" rIns="0" tIns="0" bIns="0" anchor="t">
            <a:spAutoFit/>
          </a:bodyPr>
          <a:lstStyle/>
          <a:p>
            <a:pPr algn="l"/>
            <a:r>
              <a:rPr b="0" sz="975" i="0" u="none">
                <a:solidFill>
                  <a:srgbClr val="94A3B8"/>
                </a:solidFill>
                <a:latin typeface="Plus Jakarta Sans"/>
              </a:rPr>
              <a:t>Associate Professor, Department of CSE</a:t>
            </a:r>
          </a:p>
        </p:txBody>
      </p:sp>
      <p:sp>
        <p:nvSpPr>
          <p:cNvPr id="17" name="TextBox 16"/>
          <p:cNvSpPr txBox="1"/>
          <p:nvPr/>
        </p:nvSpPr>
        <p:spPr>
          <a:xfrm>
            <a:off x="9825037" y="6076950"/>
            <a:ext cx="1833562" cy="142875"/>
          </a:xfrm>
          <a:prstGeom prst="rect">
            <a:avLst/>
          </a:prstGeom>
          <a:noFill/>
        </p:spPr>
        <p:txBody>
          <a:bodyPr wrap="none" lIns="0" rIns="0" tIns="0" bIns="0" anchor="t">
            <a:spAutoFit/>
          </a:bodyPr>
          <a:lstStyle/>
          <a:p>
            <a:pPr algn="r"/>
            <a:r>
              <a:rPr b="0" sz="900" i="0" u="none">
                <a:solidFill>
                  <a:srgbClr val="94A3B8"/>
                </a:solidFill>
                <a:latin typeface="Plus Jakarta Sans"/>
              </a:rPr>
              <a:t>B.Tech II Year • A.Y. 2026-27</a:t>
            </a:r>
          </a:p>
        </p:txBody>
      </p:sp>
      <p:sp>
        <p:nvSpPr>
          <p:cNvPr id="18" name="TextBox 17"/>
          <p:cNvSpPr txBox="1"/>
          <p:nvPr/>
        </p:nvSpPr>
        <p:spPr>
          <a:xfrm>
            <a:off x="9825037" y="6257925"/>
            <a:ext cx="1833562" cy="142875"/>
          </a:xfrm>
          <a:prstGeom prst="rect">
            <a:avLst/>
          </a:prstGeom>
          <a:noFill/>
        </p:spPr>
        <p:txBody>
          <a:bodyPr wrap="none" lIns="0" rIns="0" tIns="0" bIns="0" anchor="t">
            <a:spAutoFit/>
          </a:bodyPr>
          <a:lstStyle/>
          <a:p>
            <a:pPr algn="r"/>
            <a:r>
              <a:rPr b="0" sz="900" i="0" u="none">
                <a:solidFill>
                  <a:srgbClr val="64748B"/>
                </a:solidFill>
                <a:latin typeface="Plus Jakarta Sans"/>
              </a:rPr>
              <a:t>Date: 13-10-2026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920180"/>
            <a:ext cx="3657600" cy="10668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267200" y="1920180"/>
            <a:ext cx="3657600" cy="10668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077200" y="1920180"/>
            <a:ext cx="3657600" cy="10668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3139380"/>
            <a:ext cx="3657600" cy="10668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67200" y="3139380"/>
            <a:ext cx="3657600" cy="10668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77200" y="3139380"/>
            <a:ext cx="3657600" cy="10668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358580"/>
            <a:ext cx="3657600" cy="10668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67200" y="4358580"/>
            <a:ext cx="3657600" cy="10668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77200" y="4358580"/>
            <a:ext cx="3657600" cy="10668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1471" y="611385"/>
            <a:ext cx="1863328" cy="142875"/>
          </a:xfrm>
          <a:prstGeom prst="rect">
            <a:avLst/>
          </a:prstGeom>
          <a:noFill/>
        </p:spPr>
        <p:txBody>
          <a:bodyPr wrap="none" lIns="0" rIns="0" tIns="0" bIns="0" anchor="t">
            <a:spAutoFit/>
          </a:bodyPr>
          <a:lstStyle/>
          <a:p>
            <a:pPr algn="r"/>
            <a:r>
              <a:rPr b="1" sz="900" i="0" u="none">
                <a:solidFill>
                  <a:srgbClr val="64748B"/>
                </a:solidFill>
                <a:latin typeface="Plus Jakarta Sans"/>
              </a:rPr>
              <a:t>KL University, Bachupally</a:t>
            </a:r>
          </a:p>
        </p:txBody>
      </p:sp>
      <p:sp>
        <p:nvSpPr>
          <p:cNvPr id="14" name="TextBox 13"/>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15" name="TextBox 14"/>
          <p:cNvSpPr txBox="1"/>
          <p:nvPr/>
        </p:nvSpPr>
        <p:spPr>
          <a:xfrm>
            <a:off x="11372850" y="6562725"/>
            <a:ext cx="647700" cy="142875"/>
          </a:xfrm>
          <a:prstGeom prst="rect">
            <a:avLst/>
          </a:prstGeom>
          <a:noFill/>
        </p:spPr>
        <p:txBody>
          <a:bodyPr wrap="none" lIns="0" rIns="0" tIns="0" bIns="0" anchor="t">
            <a:spAutoFit/>
          </a:bodyPr>
          <a:lstStyle/>
          <a:p>
            <a:pPr algn="l"/>
            <a:r>
              <a:rPr b="1" sz="900" i="0" u="none">
                <a:solidFill>
                  <a:srgbClr val="64748B"/>
                </a:solidFill>
                <a:latin typeface="Plus Jakarta Sans"/>
              </a:rPr>
              <a:t>Slide 2</a:t>
            </a:r>
          </a:p>
        </p:txBody>
      </p:sp>
      <p:sp>
        <p:nvSpPr>
          <p:cNvPr id="16" name="TextBox 15"/>
          <p:cNvSpPr txBox="1"/>
          <p:nvPr/>
        </p:nvSpPr>
        <p:spPr>
          <a:xfrm>
            <a:off x="457200" y="266700"/>
            <a:ext cx="2690812" cy="152400"/>
          </a:xfrm>
          <a:prstGeom prst="rect">
            <a:avLst/>
          </a:prstGeom>
          <a:noFill/>
        </p:spPr>
        <p:txBody>
          <a:bodyPr wrap="none" lIns="0" rIns="0" tIns="0" bIns="0" anchor="t">
            <a:spAutoFit/>
          </a:bodyPr>
          <a:lstStyle/>
          <a:p>
            <a:pPr algn="l"/>
            <a:r>
              <a:rPr b="1" sz="975" i="0" u="none">
                <a:solidFill>
                  <a:srgbClr val="8B1E23"/>
                </a:solidFill>
                <a:latin typeface="Plus Jakarta Sans"/>
              </a:rPr>
              <a:t>AGENDA</a:t>
            </a:r>
          </a:p>
        </p:txBody>
      </p:sp>
      <p:sp>
        <p:nvSpPr>
          <p:cNvPr id="17" name="TextBox 16"/>
          <p:cNvSpPr txBox="1"/>
          <p:nvPr/>
        </p:nvSpPr>
        <p:spPr>
          <a:xfrm>
            <a:off x="457200" y="457200"/>
            <a:ext cx="2825353"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Table of Contents</a:t>
            </a:r>
          </a:p>
        </p:txBody>
      </p:sp>
      <p:sp>
        <p:nvSpPr>
          <p:cNvPr id="18" name="TextBox 17"/>
          <p:cNvSpPr txBox="1"/>
          <p:nvPr/>
        </p:nvSpPr>
        <p:spPr>
          <a:xfrm>
            <a:off x="657225" y="2101155"/>
            <a:ext cx="4071937" cy="285750"/>
          </a:xfrm>
          <a:prstGeom prst="rect">
            <a:avLst/>
          </a:prstGeom>
          <a:noFill/>
        </p:spPr>
        <p:txBody>
          <a:bodyPr wrap="none" lIns="0" rIns="0" tIns="0" bIns="0" anchor="t">
            <a:spAutoFit/>
          </a:bodyPr>
          <a:lstStyle/>
          <a:p>
            <a:pPr algn="l"/>
            <a:r>
              <a:rPr b="1" sz="1800" i="0" u="none">
                <a:solidFill>
                  <a:srgbClr val="8B1E23"/>
                </a:solidFill>
                <a:latin typeface="Plus Jakarta Sans"/>
              </a:rPr>
              <a:t>01</a:t>
            </a:r>
          </a:p>
        </p:txBody>
      </p:sp>
      <p:sp>
        <p:nvSpPr>
          <p:cNvPr id="19" name="TextBox 18"/>
          <p:cNvSpPr txBox="1"/>
          <p:nvPr/>
        </p:nvSpPr>
        <p:spPr>
          <a:xfrm>
            <a:off x="657225" y="2444055"/>
            <a:ext cx="4275534" cy="180975"/>
          </a:xfrm>
          <a:prstGeom prst="rect">
            <a:avLst/>
          </a:prstGeom>
          <a:noFill/>
        </p:spPr>
        <p:txBody>
          <a:bodyPr wrap="none" lIns="0" rIns="0" tIns="0" bIns="0" anchor="t">
            <a:spAutoFit/>
          </a:bodyPr>
          <a:lstStyle/>
          <a:p>
            <a:pPr algn="l"/>
            <a:r>
              <a:rPr b="1" sz="1125" i="0" u="none">
                <a:solidFill>
                  <a:srgbClr val="0F172A"/>
                </a:solidFill>
                <a:latin typeface="Plus Jakarta Sans"/>
              </a:rPr>
              <a:t>Introduction &amp; Domain</a:t>
            </a:r>
          </a:p>
        </p:txBody>
      </p:sp>
      <p:sp>
        <p:nvSpPr>
          <p:cNvPr id="20" name="TextBox 19"/>
          <p:cNvSpPr txBox="1"/>
          <p:nvPr/>
        </p:nvSpPr>
        <p:spPr>
          <a:xfrm>
            <a:off x="657225" y="2663130"/>
            <a:ext cx="4071937" cy="142875"/>
          </a:xfrm>
          <a:prstGeom prst="rect">
            <a:avLst/>
          </a:prstGeom>
          <a:noFill/>
        </p:spPr>
        <p:txBody>
          <a:bodyPr wrap="none" lIns="0" rIns="0" tIns="0" bIns="0" anchor="t">
            <a:spAutoFit/>
          </a:bodyPr>
          <a:lstStyle/>
          <a:p>
            <a:pPr algn="l"/>
            <a:r>
              <a:rPr b="0" sz="900" i="0" u="none">
                <a:solidFill>
                  <a:srgbClr val="64748B"/>
                </a:solidFill>
                <a:latin typeface="Plus Jakarta Sans"/>
              </a:rPr>
              <a:t>Cybersecurity &amp; packet inspection</a:t>
            </a:r>
          </a:p>
        </p:txBody>
      </p:sp>
      <p:sp>
        <p:nvSpPr>
          <p:cNvPr id="21" name="TextBox 20"/>
          <p:cNvSpPr txBox="1"/>
          <p:nvPr/>
        </p:nvSpPr>
        <p:spPr>
          <a:xfrm>
            <a:off x="4467225" y="2101155"/>
            <a:ext cx="4071937" cy="285750"/>
          </a:xfrm>
          <a:prstGeom prst="rect">
            <a:avLst/>
          </a:prstGeom>
          <a:noFill/>
        </p:spPr>
        <p:txBody>
          <a:bodyPr wrap="none" lIns="0" rIns="0" tIns="0" bIns="0" anchor="t">
            <a:spAutoFit/>
          </a:bodyPr>
          <a:lstStyle/>
          <a:p>
            <a:pPr algn="l"/>
            <a:r>
              <a:rPr b="1" sz="1800" i="0" u="none">
                <a:solidFill>
                  <a:srgbClr val="8B1E23"/>
                </a:solidFill>
                <a:latin typeface="Plus Jakarta Sans"/>
              </a:rPr>
              <a:t>02</a:t>
            </a:r>
          </a:p>
        </p:txBody>
      </p:sp>
      <p:sp>
        <p:nvSpPr>
          <p:cNvPr id="22" name="TextBox 21"/>
          <p:cNvSpPr txBox="1"/>
          <p:nvPr/>
        </p:nvSpPr>
        <p:spPr>
          <a:xfrm>
            <a:off x="4467225" y="2444055"/>
            <a:ext cx="4275534" cy="180975"/>
          </a:xfrm>
          <a:prstGeom prst="rect">
            <a:avLst/>
          </a:prstGeom>
          <a:noFill/>
        </p:spPr>
        <p:txBody>
          <a:bodyPr wrap="none" lIns="0" rIns="0" tIns="0" bIns="0" anchor="t">
            <a:spAutoFit/>
          </a:bodyPr>
          <a:lstStyle/>
          <a:p>
            <a:pPr algn="l"/>
            <a:r>
              <a:rPr b="1" sz="1125" i="0" u="none">
                <a:solidFill>
                  <a:srgbClr val="0F172A"/>
                </a:solidFill>
                <a:latin typeface="Plus Jakarta Sans"/>
              </a:rPr>
              <a:t>Problem Statement</a:t>
            </a:r>
          </a:p>
        </p:txBody>
      </p:sp>
      <p:sp>
        <p:nvSpPr>
          <p:cNvPr id="23" name="TextBox 22"/>
          <p:cNvSpPr txBox="1"/>
          <p:nvPr/>
        </p:nvSpPr>
        <p:spPr>
          <a:xfrm>
            <a:off x="4467225" y="2663130"/>
            <a:ext cx="4071937" cy="142875"/>
          </a:xfrm>
          <a:prstGeom prst="rect">
            <a:avLst/>
          </a:prstGeom>
          <a:noFill/>
        </p:spPr>
        <p:txBody>
          <a:bodyPr wrap="none" lIns="0" rIns="0" tIns="0" bIns="0" anchor="t">
            <a:spAutoFit/>
          </a:bodyPr>
          <a:lstStyle/>
          <a:p>
            <a:pPr algn="l"/>
            <a:r>
              <a:rPr b="0" sz="900" i="0" u="none">
                <a:solidFill>
                  <a:srgbClr val="64748B"/>
                </a:solidFill>
                <a:latin typeface="Plus Jakarta Sans"/>
              </a:rPr>
              <a:t>Dynamic attacks vs static firewalls</a:t>
            </a:r>
          </a:p>
        </p:txBody>
      </p:sp>
      <p:sp>
        <p:nvSpPr>
          <p:cNvPr id="24" name="TextBox 23"/>
          <p:cNvSpPr txBox="1"/>
          <p:nvPr/>
        </p:nvSpPr>
        <p:spPr>
          <a:xfrm>
            <a:off x="8277225" y="2101155"/>
            <a:ext cx="3914775" cy="285750"/>
          </a:xfrm>
          <a:prstGeom prst="rect">
            <a:avLst/>
          </a:prstGeom>
          <a:noFill/>
        </p:spPr>
        <p:txBody>
          <a:bodyPr wrap="none" lIns="0" rIns="0" tIns="0" bIns="0" anchor="t">
            <a:spAutoFit/>
          </a:bodyPr>
          <a:lstStyle/>
          <a:p>
            <a:pPr algn="l"/>
            <a:r>
              <a:rPr b="1" sz="1800" i="0" u="none">
                <a:solidFill>
                  <a:srgbClr val="8B1E23"/>
                </a:solidFill>
                <a:latin typeface="Plus Jakarta Sans"/>
              </a:rPr>
              <a:t>03</a:t>
            </a:r>
          </a:p>
        </p:txBody>
      </p:sp>
      <p:sp>
        <p:nvSpPr>
          <p:cNvPr id="25" name="TextBox 24"/>
          <p:cNvSpPr txBox="1"/>
          <p:nvPr/>
        </p:nvSpPr>
        <p:spPr>
          <a:xfrm>
            <a:off x="8277225" y="2444055"/>
            <a:ext cx="3914775" cy="180975"/>
          </a:xfrm>
          <a:prstGeom prst="rect">
            <a:avLst/>
          </a:prstGeom>
          <a:noFill/>
        </p:spPr>
        <p:txBody>
          <a:bodyPr wrap="none" lIns="0" rIns="0" tIns="0" bIns="0" anchor="t">
            <a:spAutoFit/>
          </a:bodyPr>
          <a:lstStyle/>
          <a:p>
            <a:pPr algn="l"/>
            <a:r>
              <a:rPr b="1" sz="1125" i="0" u="none">
                <a:solidFill>
                  <a:srgbClr val="0F172A"/>
                </a:solidFill>
                <a:latin typeface="Plus Jakarta Sans"/>
              </a:rPr>
              <a:t>Literature Survey</a:t>
            </a:r>
          </a:p>
        </p:txBody>
      </p:sp>
      <p:sp>
        <p:nvSpPr>
          <p:cNvPr id="26" name="TextBox 25"/>
          <p:cNvSpPr txBox="1"/>
          <p:nvPr/>
        </p:nvSpPr>
        <p:spPr>
          <a:xfrm>
            <a:off x="8277225" y="2663130"/>
            <a:ext cx="3914775" cy="142875"/>
          </a:xfrm>
          <a:prstGeom prst="rect">
            <a:avLst/>
          </a:prstGeom>
          <a:noFill/>
        </p:spPr>
        <p:txBody>
          <a:bodyPr wrap="none" lIns="0" rIns="0" tIns="0" bIns="0" anchor="t">
            <a:spAutoFit/>
          </a:bodyPr>
          <a:lstStyle/>
          <a:p>
            <a:pPr algn="l"/>
            <a:r>
              <a:rPr b="0" sz="900" i="0" u="none">
                <a:solidFill>
                  <a:srgbClr val="64748B"/>
                </a:solidFill>
                <a:latin typeface="Plus Jakarta Sans"/>
              </a:rPr>
              <a:t>Analysis of 4 key recent studies</a:t>
            </a:r>
          </a:p>
        </p:txBody>
      </p:sp>
      <p:sp>
        <p:nvSpPr>
          <p:cNvPr id="27" name="TextBox 26"/>
          <p:cNvSpPr txBox="1"/>
          <p:nvPr/>
        </p:nvSpPr>
        <p:spPr>
          <a:xfrm>
            <a:off x="657225" y="3320355"/>
            <a:ext cx="4071937" cy="285750"/>
          </a:xfrm>
          <a:prstGeom prst="rect">
            <a:avLst/>
          </a:prstGeom>
          <a:noFill/>
        </p:spPr>
        <p:txBody>
          <a:bodyPr wrap="none" lIns="0" rIns="0" tIns="0" bIns="0" anchor="t">
            <a:spAutoFit/>
          </a:bodyPr>
          <a:lstStyle/>
          <a:p>
            <a:pPr algn="l"/>
            <a:r>
              <a:rPr b="1" sz="1800" i="0" u="none">
                <a:solidFill>
                  <a:srgbClr val="8B1E23"/>
                </a:solidFill>
                <a:latin typeface="Plus Jakarta Sans"/>
              </a:rPr>
              <a:t>04</a:t>
            </a:r>
          </a:p>
        </p:txBody>
      </p:sp>
      <p:sp>
        <p:nvSpPr>
          <p:cNvPr id="28" name="TextBox 27"/>
          <p:cNvSpPr txBox="1"/>
          <p:nvPr/>
        </p:nvSpPr>
        <p:spPr>
          <a:xfrm>
            <a:off x="657225" y="3663255"/>
            <a:ext cx="4275534" cy="180975"/>
          </a:xfrm>
          <a:prstGeom prst="rect">
            <a:avLst/>
          </a:prstGeom>
          <a:noFill/>
        </p:spPr>
        <p:txBody>
          <a:bodyPr wrap="none" lIns="0" rIns="0" tIns="0" bIns="0" anchor="t">
            <a:spAutoFit/>
          </a:bodyPr>
          <a:lstStyle/>
          <a:p>
            <a:pPr algn="l"/>
            <a:r>
              <a:rPr b="1" sz="1125" i="0" u="none">
                <a:solidFill>
                  <a:srgbClr val="0F172A"/>
                </a:solidFill>
                <a:latin typeface="Plus Jakarta Sans"/>
              </a:rPr>
              <a:t>Research Gap</a:t>
            </a:r>
          </a:p>
        </p:txBody>
      </p:sp>
      <p:sp>
        <p:nvSpPr>
          <p:cNvPr id="29" name="TextBox 28"/>
          <p:cNvSpPr txBox="1"/>
          <p:nvPr/>
        </p:nvSpPr>
        <p:spPr>
          <a:xfrm>
            <a:off x="657225" y="3882330"/>
            <a:ext cx="4071937" cy="142875"/>
          </a:xfrm>
          <a:prstGeom prst="rect">
            <a:avLst/>
          </a:prstGeom>
          <a:noFill/>
        </p:spPr>
        <p:txBody>
          <a:bodyPr wrap="none" lIns="0" rIns="0" tIns="0" bIns="0" anchor="t">
            <a:spAutoFit/>
          </a:bodyPr>
          <a:lstStyle/>
          <a:p>
            <a:pPr algn="l"/>
            <a:r>
              <a:rPr b="0" sz="900" i="0" u="none">
                <a:solidFill>
                  <a:srgbClr val="64748B"/>
                </a:solidFill>
                <a:latin typeface="Plus Jakarta Sans"/>
              </a:rPr>
              <a:t>Production serving &amp; drift limitations</a:t>
            </a:r>
          </a:p>
        </p:txBody>
      </p:sp>
      <p:sp>
        <p:nvSpPr>
          <p:cNvPr id="30" name="TextBox 29"/>
          <p:cNvSpPr txBox="1"/>
          <p:nvPr/>
        </p:nvSpPr>
        <p:spPr>
          <a:xfrm>
            <a:off x="4467225" y="3320355"/>
            <a:ext cx="4071937" cy="285750"/>
          </a:xfrm>
          <a:prstGeom prst="rect">
            <a:avLst/>
          </a:prstGeom>
          <a:noFill/>
        </p:spPr>
        <p:txBody>
          <a:bodyPr wrap="none" lIns="0" rIns="0" tIns="0" bIns="0" anchor="t">
            <a:spAutoFit/>
          </a:bodyPr>
          <a:lstStyle/>
          <a:p>
            <a:pPr algn="l"/>
            <a:r>
              <a:rPr b="1" sz="1800" i="0" u="none">
                <a:solidFill>
                  <a:srgbClr val="8B1E23"/>
                </a:solidFill>
                <a:latin typeface="Plus Jakarta Sans"/>
              </a:rPr>
              <a:t>05</a:t>
            </a:r>
          </a:p>
        </p:txBody>
      </p:sp>
      <p:sp>
        <p:nvSpPr>
          <p:cNvPr id="31" name="TextBox 30"/>
          <p:cNvSpPr txBox="1"/>
          <p:nvPr/>
        </p:nvSpPr>
        <p:spPr>
          <a:xfrm>
            <a:off x="4467225" y="3663255"/>
            <a:ext cx="4275534" cy="180975"/>
          </a:xfrm>
          <a:prstGeom prst="rect">
            <a:avLst/>
          </a:prstGeom>
          <a:noFill/>
        </p:spPr>
        <p:txBody>
          <a:bodyPr wrap="none" lIns="0" rIns="0" tIns="0" bIns="0" anchor="t">
            <a:spAutoFit/>
          </a:bodyPr>
          <a:lstStyle/>
          <a:p>
            <a:pPr algn="l"/>
            <a:r>
              <a:rPr b="1" sz="1125" i="0" u="none">
                <a:solidFill>
                  <a:srgbClr val="0F172A"/>
                </a:solidFill>
                <a:latin typeface="Plus Jakarta Sans"/>
              </a:rPr>
              <a:t>Project Objectives</a:t>
            </a:r>
          </a:p>
        </p:txBody>
      </p:sp>
      <p:sp>
        <p:nvSpPr>
          <p:cNvPr id="32" name="TextBox 31"/>
          <p:cNvSpPr txBox="1"/>
          <p:nvPr/>
        </p:nvSpPr>
        <p:spPr>
          <a:xfrm>
            <a:off x="4467225" y="3882330"/>
            <a:ext cx="4071937" cy="142875"/>
          </a:xfrm>
          <a:prstGeom prst="rect">
            <a:avLst/>
          </a:prstGeom>
          <a:noFill/>
        </p:spPr>
        <p:txBody>
          <a:bodyPr wrap="none" lIns="0" rIns="0" tIns="0" bIns="0" anchor="t">
            <a:spAutoFit/>
          </a:bodyPr>
          <a:lstStyle/>
          <a:p>
            <a:pPr algn="l"/>
            <a:r>
              <a:rPr b="0" sz="900" i="0" u="none">
                <a:solidFill>
                  <a:srgbClr val="64748B"/>
                </a:solidFill>
                <a:latin typeface="Plus Jakarta Sans"/>
              </a:rPr>
              <a:t>Targeted measurable outcomes</a:t>
            </a:r>
          </a:p>
        </p:txBody>
      </p:sp>
      <p:sp>
        <p:nvSpPr>
          <p:cNvPr id="33" name="TextBox 32"/>
          <p:cNvSpPr txBox="1"/>
          <p:nvPr/>
        </p:nvSpPr>
        <p:spPr>
          <a:xfrm>
            <a:off x="8277225" y="3320355"/>
            <a:ext cx="3914775" cy="285750"/>
          </a:xfrm>
          <a:prstGeom prst="rect">
            <a:avLst/>
          </a:prstGeom>
          <a:noFill/>
        </p:spPr>
        <p:txBody>
          <a:bodyPr wrap="none" lIns="0" rIns="0" tIns="0" bIns="0" anchor="t">
            <a:spAutoFit/>
          </a:bodyPr>
          <a:lstStyle/>
          <a:p>
            <a:pPr algn="l"/>
            <a:r>
              <a:rPr b="1" sz="1800" i="0" u="none">
                <a:solidFill>
                  <a:srgbClr val="8B1E23"/>
                </a:solidFill>
                <a:latin typeface="Plus Jakarta Sans"/>
              </a:rPr>
              <a:t>06</a:t>
            </a:r>
          </a:p>
        </p:txBody>
      </p:sp>
      <p:sp>
        <p:nvSpPr>
          <p:cNvPr id="34" name="TextBox 33"/>
          <p:cNvSpPr txBox="1"/>
          <p:nvPr/>
        </p:nvSpPr>
        <p:spPr>
          <a:xfrm>
            <a:off x="8277225" y="3663255"/>
            <a:ext cx="3914775" cy="180975"/>
          </a:xfrm>
          <a:prstGeom prst="rect">
            <a:avLst/>
          </a:prstGeom>
          <a:noFill/>
        </p:spPr>
        <p:txBody>
          <a:bodyPr wrap="none" lIns="0" rIns="0" tIns="0" bIns="0" anchor="t">
            <a:spAutoFit/>
          </a:bodyPr>
          <a:lstStyle/>
          <a:p>
            <a:pPr algn="l"/>
            <a:r>
              <a:rPr b="1" sz="1125" i="0" u="none">
                <a:solidFill>
                  <a:srgbClr val="0F172A"/>
                </a:solidFill>
                <a:latin typeface="Plus Jakarta Sans"/>
              </a:rPr>
              <a:t>System Architecture</a:t>
            </a:r>
          </a:p>
        </p:txBody>
      </p:sp>
      <p:sp>
        <p:nvSpPr>
          <p:cNvPr id="35" name="TextBox 34"/>
          <p:cNvSpPr txBox="1"/>
          <p:nvPr/>
        </p:nvSpPr>
        <p:spPr>
          <a:xfrm>
            <a:off x="8277225" y="3882330"/>
            <a:ext cx="3914775" cy="142875"/>
          </a:xfrm>
          <a:prstGeom prst="rect">
            <a:avLst/>
          </a:prstGeom>
          <a:noFill/>
        </p:spPr>
        <p:txBody>
          <a:bodyPr wrap="none" lIns="0" rIns="0" tIns="0" bIns="0" anchor="t">
            <a:spAutoFit/>
          </a:bodyPr>
          <a:lstStyle/>
          <a:p>
            <a:pPr algn="l"/>
            <a:r>
              <a:rPr b="0" sz="900" i="0" u="none">
                <a:solidFill>
                  <a:srgbClr val="64748B"/>
                </a:solidFill>
                <a:latin typeface="Plus Jakarta Sans"/>
              </a:rPr>
              <a:t>End-to-end data flow pipeline</a:t>
            </a:r>
          </a:p>
        </p:txBody>
      </p:sp>
      <p:sp>
        <p:nvSpPr>
          <p:cNvPr id="36" name="TextBox 35"/>
          <p:cNvSpPr txBox="1"/>
          <p:nvPr/>
        </p:nvSpPr>
        <p:spPr>
          <a:xfrm>
            <a:off x="657225" y="4539555"/>
            <a:ext cx="4071937" cy="285750"/>
          </a:xfrm>
          <a:prstGeom prst="rect">
            <a:avLst/>
          </a:prstGeom>
          <a:noFill/>
        </p:spPr>
        <p:txBody>
          <a:bodyPr wrap="none" lIns="0" rIns="0" tIns="0" bIns="0" anchor="t">
            <a:spAutoFit/>
          </a:bodyPr>
          <a:lstStyle/>
          <a:p>
            <a:pPr algn="l"/>
            <a:r>
              <a:rPr b="1" sz="1800" i="0" u="none">
                <a:solidFill>
                  <a:srgbClr val="8B1E23"/>
                </a:solidFill>
                <a:latin typeface="Plus Jakarta Sans"/>
              </a:rPr>
              <a:t>07</a:t>
            </a:r>
          </a:p>
        </p:txBody>
      </p:sp>
      <p:sp>
        <p:nvSpPr>
          <p:cNvPr id="37" name="TextBox 36"/>
          <p:cNvSpPr txBox="1"/>
          <p:nvPr/>
        </p:nvSpPr>
        <p:spPr>
          <a:xfrm>
            <a:off x="657225" y="4882455"/>
            <a:ext cx="4275534" cy="180975"/>
          </a:xfrm>
          <a:prstGeom prst="rect">
            <a:avLst/>
          </a:prstGeom>
          <a:noFill/>
        </p:spPr>
        <p:txBody>
          <a:bodyPr wrap="none" lIns="0" rIns="0" tIns="0" bIns="0" anchor="t">
            <a:spAutoFit/>
          </a:bodyPr>
          <a:lstStyle/>
          <a:p>
            <a:pPr algn="l"/>
            <a:r>
              <a:rPr b="1" sz="1125" i="0" u="none">
                <a:solidFill>
                  <a:srgbClr val="0F172A"/>
                </a:solidFill>
                <a:latin typeface="Plus Jakarta Sans"/>
              </a:rPr>
              <a:t>Methodology &amp; Modules</a:t>
            </a:r>
          </a:p>
        </p:txBody>
      </p:sp>
      <p:sp>
        <p:nvSpPr>
          <p:cNvPr id="38" name="TextBox 37"/>
          <p:cNvSpPr txBox="1"/>
          <p:nvPr/>
        </p:nvSpPr>
        <p:spPr>
          <a:xfrm>
            <a:off x="657225" y="5101530"/>
            <a:ext cx="4071937" cy="142875"/>
          </a:xfrm>
          <a:prstGeom prst="rect">
            <a:avLst/>
          </a:prstGeom>
          <a:noFill/>
        </p:spPr>
        <p:txBody>
          <a:bodyPr wrap="none" lIns="0" rIns="0" tIns="0" bIns="0" anchor="t">
            <a:spAutoFit/>
          </a:bodyPr>
          <a:lstStyle/>
          <a:p>
            <a:pPr algn="l"/>
            <a:r>
              <a:rPr b="0" sz="900" i="0" u="none">
                <a:solidFill>
                  <a:srgbClr val="64748B"/>
                </a:solidFill>
                <a:latin typeface="Plus Jakarta Sans"/>
              </a:rPr>
              <a:t>Preprocessing to model ensembles</a:t>
            </a:r>
          </a:p>
        </p:txBody>
      </p:sp>
      <p:sp>
        <p:nvSpPr>
          <p:cNvPr id="39" name="TextBox 38"/>
          <p:cNvSpPr txBox="1"/>
          <p:nvPr/>
        </p:nvSpPr>
        <p:spPr>
          <a:xfrm>
            <a:off x="4467225" y="4539555"/>
            <a:ext cx="4071937" cy="285750"/>
          </a:xfrm>
          <a:prstGeom prst="rect">
            <a:avLst/>
          </a:prstGeom>
          <a:noFill/>
        </p:spPr>
        <p:txBody>
          <a:bodyPr wrap="none" lIns="0" rIns="0" tIns="0" bIns="0" anchor="t">
            <a:spAutoFit/>
          </a:bodyPr>
          <a:lstStyle/>
          <a:p>
            <a:pPr algn="l"/>
            <a:r>
              <a:rPr b="1" sz="1800" i="0" u="none">
                <a:solidFill>
                  <a:srgbClr val="8B1E23"/>
                </a:solidFill>
                <a:latin typeface="Plus Jakarta Sans"/>
              </a:rPr>
              <a:t>08</a:t>
            </a:r>
          </a:p>
        </p:txBody>
      </p:sp>
      <p:sp>
        <p:nvSpPr>
          <p:cNvPr id="40" name="TextBox 39"/>
          <p:cNvSpPr txBox="1"/>
          <p:nvPr/>
        </p:nvSpPr>
        <p:spPr>
          <a:xfrm>
            <a:off x="4467225" y="4882455"/>
            <a:ext cx="4275534" cy="180975"/>
          </a:xfrm>
          <a:prstGeom prst="rect">
            <a:avLst/>
          </a:prstGeom>
          <a:noFill/>
        </p:spPr>
        <p:txBody>
          <a:bodyPr wrap="none" lIns="0" rIns="0" tIns="0" bIns="0" anchor="t">
            <a:spAutoFit/>
          </a:bodyPr>
          <a:lstStyle/>
          <a:p>
            <a:pPr algn="l"/>
            <a:r>
              <a:rPr b="1" sz="1125" i="0" u="none">
                <a:solidFill>
                  <a:srgbClr val="0F172A"/>
                </a:solidFill>
                <a:latin typeface="Plus Jakarta Sans"/>
              </a:rPr>
              <a:t>Tools &amp; Technologies</a:t>
            </a:r>
          </a:p>
        </p:txBody>
      </p:sp>
      <p:sp>
        <p:nvSpPr>
          <p:cNvPr id="41" name="TextBox 40"/>
          <p:cNvSpPr txBox="1"/>
          <p:nvPr/>
        </p:nvSpPr>
        <p:spPr>
          <a:xfrm>
            <a:off x="4467225" y="5101530"/>
            <a:ext cx="4071937" cy="142875"/>
          </a:xfrm>
          <a:prstGeom prst="rect">
            <a:avLst/>
          </a:prstGeom>
          <a:noFill/>
        </p:spPr>
        <p:txBody>
          <a:bodyPr wrap="none" lIns="0" rIns="0" tIns="0" bIns="0" anchor="t">
            <a:spAutoFit/>
          </a:bodyPr>
          <a:lstStyle/>
          <a:p>
            <a:pPr algn="l"/>
            <a:r>
              <a:rPr b="0" sz="900" i="0" u="none">
                <a:solidFill>
                  <a:srgbClr val="64748B"/>
                </a:solidFill>
                <a:latin typeface="Plus Jakarta Sans"/>
              </a:rPr>
              <a:t>FastAPI, Streamlit, Scikit-learn</a:t>
            </a:r>
          </a:p>
        </p:txBody>
      </p:sp>
      <p:sp>
        <p:nvSpPr>
          <p:cNvPr id="42" name="TextBox 41"/>
          <p:cNvSpPr txBox="1"/>
          <p:nvPr/>
        </p:nvSpPr>
        <p:spPr>
          <a:xfrm>
            <a:off x="8277225" y="4539555"/>
            <a:ext cx="3914775" cy="285750"/>
          </a:xfrm>
          <a:prstGeom prst="rect">
            <a:avLst/>
          </a:prstGeom>
          <a:noFill/>
        </p:spPr>
        <p:txBody>
          <a:bodyPr wrap="none" lIns="0" rIns="0" tIns="0" bIns="0" anchor="t">
            <a:spAutoFit/>
          </a:bodyPr>
          <a:lstStyle/>
          <a:p>
            <a:pPr algn="l"/>
            <a:r>
              <a:rPr b="1" sz="1800" i="0" u="none">
                <a:solidFill>
                  <a:srgbClr val="8B1E23"/>
                </a:solidFill>
                <a:latin typeface="Plus Jakarta Sans"/>
              </a:rPr>
              <a:t>09</a:t>
            </a:r>
          </a:p>
        </p:txBody>
      </p:sp>
      <p:sp>
        <p:nvSpPr>
          <p:cNvPr id="43" name="TextBox 42"/>
          <p:cNvSpPr txBox="1"/>
          <p:nvPr/>
        </p:nvSpPr>
        <p:spPr>
          <a:xfrm>
            <a:off x="8277225" y="4882455"/>
            <a:ext cx="3914775" cy="180975"/>
          </a:xfrm>
          <a:prstGeom prst="rect">
            <a:avLst/>
          </a:prstGeom>
          <a:noFill/>
        </p:spPr>
        <p:txBody>
          <a:bodyPr wrap="none" lIns="0" rIns="0" tIns="0" bIns="0" anchor="t">
            <a:spAutoFit/>
          </a:bodyPr>
          <a:lstStyle/>
          <a:p>
            <a:pPr algn="l"/>
            <a:r>
              <a:rPr b="1" sz="1125" i="0" u="none">
                <a:solidFill>
                  <a:srgbClr val="0F172A"/>
                </a:solidFill>
                <a:latin typeface="Plus Jakarta Sans"/>
              </a:rPr>
              <a:t>Work Completed &amp; Demo</a:t>
            </a:r>
          </a:p>
        </p:txBody>
      </p:sp>
      <p:sp>
        <p:nvSpPr>
          <p:cNvPr id="44" name="TextBox 43"/>
          <p:cNvSpPr txBox="1"/>
          <p:nvPr/>
        </p:nvSpPr>
        <p:spPr>
          <a:xfrm>
            <a:off x="8277225" y="5101530"/>
            <a:ext cx="3914775" cy="142875"/>
          </a:xfrm>
          <a:prstGeom prst="rect">
            <a:avLst/>
          </a:prstGeom>
          <a:noFill/>
        </p:spPr>
        <p:txBody>
          <a:bodyPr wrap="none" lIns="0" rIns="0" tIns="0" bIns="0" anchor="t">
            <a:spAutoFit/>
          </a:bodyPr>
          <a:lstStyle/>
          <a:p>
            <a:pPr algn="l"/>
            <a:r>
              <a:rPr b="0" sz="900" i="0" u="none">
                <a:solidFill>
                  <a:srgbClr val="64748B"/>
                </a:solidFill>
                <a:latin typeface="Plus Jakarta Sans"/>
              </a:rPr>
              <a:t>Working UI &amp; API demonstration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325367"/>
            <a:ext cx="11277600" cy="33337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5325367"/>
            <a:ext cx="38100" cy="333375"/>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86817"/>
            <a:ext cx="6629400" cy="1147762"/>
          </a:xfrm>
          <a:prstGeom prst="roundRect">
            <a:avLst>
              <a:gd name="adj" fmla="val 663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2967930"/>
            <a:ext cx="6629400" cy="1147762"/>
          </a:xfrm>
          <a:prstGeom prst="roundRect">
            <a:avLst>
              <a:gd name="adj" fmla="val 663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4249042"/>
            <a:ext cx="6629400" cy="962025"/>
          </a:xfrm>
          <a:prstGeom prst="roundRect">
            <a:avLst>
              <a:gd name="adj" fmla="val 792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0" y="1686817"/>
            <a:ext cx="4419600" cy="3524250"/>
          </a:xfrm>
          <a:prstGeom prst="roundRect">
            <a:avLst>
              <a:gd name="adj" fmla="val 2162"/>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543800" y="3310830"/>
            <a:ext cx="123825" cy="123825"/>
          </a:xfrm>
          <a:prstGeom prst="rect">
            <a:avLst/>
          </a:prstGeom>
        </p:spPr>
      </p:pic>
      <p:pic>
        <p:nvPicPr>
          <p:cNvPr id="11" name="Picture 10" descr="image.png"/>
          <p:cNvPicPr>
            <a:picLocks noChangeAspect="1"/>
          </p:cNvPicPr>
          <p:nvPr/>
        </p:nvPicPr>
        <p:blipFill>
          <a:blip r:embed="rId2"/>
          <a:stretch>
            <a:fillRect/>
          </a:stretch>
        </p:blipFill>
        <p:spPr>
          <a:xfrm>
            <a:off x="7543800" y="3558480"/>
            <a:ext cx="123825" cy="123825"/>
          </a:xfrm>
          <a:prstGeom prst="rect">
            <a:avLst/>
          </a:prstGeom>
        </p:spPr>
      </p:pic>
      <p:pic>
        <p:nvPicPr>
          <p:cNvPr id="12" name="Picture 11" descr="image.png"/>
          <p:cNvPicPr>
            <a:picLocks noChangeAspect="1"/>
          </p:cNvPicPr>
          <p:nvPr/>
        </p:nvPicPr>
        <p:blipFill>
          <a:blip r:embed="rId2"/>
          <a:stretch>
            <a:fillRect/>
          </a:stretch>
        </p:blipFill>
        <p:spPr>
          <a:xfrm>
            <a:off x="7543800" y="3806130"/>
            <a:ext cx="123825" cy="123825"/>
          </a:xfrm>
          <a:prstGeom prst="rect">
            <a:avLst/>
          </a:prstGeom>
        </p:spPr>
      </p:pic>
      <p:pic>
        <p:nvPicPr>
          <p:cNvPr id="13" name="Picture 12" descr="image.png"/>
          <p:cNvPicPr>
            <a:picLocks noChangeAspect="1"/>
          </p:cNvPicPr>
          <p:nvPr/>
        </p:nvPicPr>
        <p:blipFill>
          <a:blip r:embed="rId2"/>
          <a:stretch>
            <a:fillRect/>
          </a:stretch>
        </p:blipFill>
        <p:spPr>
          <a:xfrm>
            <a:off x="7543800" y="4053780"/>
            <a:ext cx="123825" cy="123825"/>
          </a:xfrm>
          <a:prstGeom prst="rect">
            <a:avLst/>
          </a:prstGeom>
        </p:spPr>
      </p:pic>
      <p:sp>
        <p:nvSpPr>
          <p:cNvPr id="14" name="TextBox 13"/>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15" name="TextBox 14"/>
          <p:cNvSpPr txBox="1"/>
          <p:nvPr/>
        </p:nvSpPr>
        <p:spPr>
          <a:xfrm>
            <a:off x="609600" y="5420617"/>
            <a:ext cx="11068050" cy="142875"/>
          </a:xfrm>
          <a:prstGeom prst="rect">
            <a:avLst/>
          </a:prstGeom>
          <a:noFill/>
        </p:spPr>
        <p:txBody>
          <a:bodyPr wrap="square" lIns="0" rIns="0" tIns="0" bIns="0" anchor="t">
            <a:spAutoFit/>
          </a:bodyPr>
          <a:lstStyle/>
          <a:p>
            <a:pPr algn="l"/>
            <a:r>
              <a:rPr b="1" sz="900" i="0" u="none">
                <a:solidFill>
                  <a:srgbClr val="475569"/>
                </a:solidFill>
                <a:latin typeface="Plus Jakarta Sans"/>
              </a:rPr>
              <a:t>Panel tip:</a:t>
            </a:r>
            <a:r>
              <a:rPr b="0" sz="900" i="0" u="none">
                <a:solidFill>
                  <a:srgbClr val="475569"/>
                </a:solidFill>
                <a:latin typeface="Plus Jakarta Sans"/>
              </a:rPr>
              <a:t> Every claim regarding benchmark accuracy and packet features is verified against the NSL-KDD corpus referenced in Slide 14.</a:t>
            </a:r>
          </a:p>
        </p:txBody>
      </p:sp>
      <p:sp>
        <p:nvSpPr>
          <p:cNvPr id="16" name="TextBox 15"/>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17" name="TextBox 16"/>
          <p:cNvSpPr txBox="1"/>
          <p:nvPr/>
        </p:nvSpPr>
        <p:spPr>
          <a:xfrm>
            <a:off x="11372850" y="6562725"/>
            <a:ext cx="647700" cy="142875"/>
          </a:xfrm>
          <a:prstGeom prst="rect">
            <a:avLst/>
          </a:prstGeom>
          <a:noFill/>
        </p:spPr>
        <p:txBody>
          <a:bodyPr wrap="none" lIns="0" rIns="0" tIns="0" bIns="0" anchor="t">
            <a:spAutoFit/>
          </a:bodyPr>
          <a:lstStyle/>
          <a:p>
            <a:pPr algn="l"/>
            <a:r>
              <a:rPr b="1" sz="900" i="0" u="none">
                <a:solidFill>
                  <a:srgbClr val="64748B"/>
                </a:solidFill>
                <a:latin typeface="Plus Jakarta Sans"/>
              </a:rPr>
              <a:t>Slide 3</a:t>
            </a:r>
          </a:p>
        </p:txBody>
      </p:sp>
      <p:sp>
        <p:nvSpPr>
          <p:cNvPr id="18" name="TextBox 17"/>
          <p:cNvSpPr txBox="1"/>
          <p:nvPr/>
        </p:nvSpPr>
        <p:spPr>
          <a:xfrm>
            <a:off x="457200" y="266700"/>
            <a:ext cx="5405437"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1</a:t>
            </a:r>
          </a:p>
        </p:txBody>
      </p:sp>
      <p:sp>
        <p:nvSpPr>
          <p:cNvPr id="19" name="TextBox 18"/>
          <p:cNvSpPr txBox="1"/>
          <p:nvPr/>
        </p:nvSpPr>
        <p:spPr>
          <a:xfrm>
            <a:off x="457200" y="457200"/>
            <a:ext cx="5675709"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Introduction &amp; Domain Background</a:t>
            </a:r>
          </a:p>
        </p:txBody>
      </p:sp>
      <p:sp>
        <p:nvSpPr>
          <p:cNvPr id="20" name="TextBox 19"/>
          <p:cNvSpPr txBox="1"/>
          <p:nvPr/>
        </p:nvSpPr>
        <p:spPr>
          <a:xfrm>
            <a:off x="657225" y="1867792"/>
            <a:ext cx="8176021" cy="171450"/>
          </a:xfrm>
          <a:prstGeom prst="rect">
            <a:avLst/>
          </a:prstGeom>
          <a:noFill/>
        </p:spPr>
        <p:txBody>
          <a:bodyPr wrap="none" lIns="0" rIns="0" tIns="0" bIns="0" anchor="t">
            <a:spAutoFit/>
          </a:bodyPr>
          <a:lstStyle/>
          <a:p>
            <a:pPr algn="l"/>
            <a:r>
              <a:rPr b="1" sz="1050" i="0" u="none">
                <a:solidFill>
                  <a:srgbClr val="8B1E23"/>
                </a:solidFill>
                <a:latin typeface="Plus Jakarta Sans"/>
              </a:rPr>
              <a:t>What is the Domain?</a:t>
            </a:r>
          </a:p>
        </p:txBody>
      </p:sp>
      <p:sp>
        <p:nvSpPr>
          <p:cNvPr id="21" name="TextBox 20"/>
          <p:cNvSpPr txBox="1"/>
          <p:nvPr/>
        </p:nvSpPr>
        <p:spPr>
          <a:xfrm>
            <a:off x="657225" y="2096392"/>
            <a:ext cx="6324600" cy="557212"/>
          </a:xfrm>
          <a:prstGeom prst="rect">
            <a:avLst/>
          </a:prstGeom>
          <a:noFill/>
        </p:spPr>
        <p:txBody>
          <a:bodyPr wrap="square" lIns="0" rIns="0" tIns="0" bIns="0" anchor="t">
            <a:spAutoFit/>
          </a:bodyPr>
          <a:lstStyle/>
          <a:p>
            <a:pPr algn="l">
              <a:lnSpc>
                <a:spcPts val="1462"/>
              </a:lnSpc>
            </a:pPr>
            <a:r>
              <a:rPr b="1" sz="975" i="0" u="none">
                <a:solidFill>
                  <a:srgbClr val="334155"/>
                </a:solidFill>
                <a:latin typeface="Plus Jakarta Sans"/>
              </a:rPr>
              <a:t>Network Cybersecurity &amp; Behavioral AI:</a:t>
            </a:r>
            <a:r>
              <a:rPr b="0" sz="975" i="0" u="none">
                <a:solidFill>
                  <a:srgbClr val="334155"/>
                </a:solidFill>
                <a:latin typeface="Plus Jakarta Sans"/>
              </a:rPr>
              <a:t> Network Intrusion Detection Systems (NIDS) analyze traffic patterns at the packet header and connection level to differentiate benign network transactions from malicious intrusions.</a:t>
            </a:r>
          </a:p>
        </p:txBody>
      </p:sp>
      <p:sp>
        <p:nvSpPr>
          <p:cNvPr id="22" name="TextBox 21"/>
          <p:cNvSpPr txBox="1"/>
          <p:nvPr/>
        </p:nvSpPr>
        <p:spPr>
          <a:xfrm>
            <a:off x="657225" y="3148905"/>
            <a:ext cx="8176021" cy="171450"/>
          </a:xfrm>
          <a:prstGeom prst="rect">
            <a:avLst/>
          </a:prstGeom>
          <a:noFill/>
        </p:spPr>
        <p:txBody>
          <a:bodyPr wrap="none" lIns="0" rIns="0" tIns="0" bIns="0" anchor="t">
            <a:spAutoFit/>
          </a:bodyPr>
          <a:lstStyle/>
          <a:p>
            <a:pPr algn="l"/>
            <a:r>
              <a:rPr b="1" sz="1050" i="0" u="none">
                <a:solidFill>
                  <a:srgbClr val="8B1E23"/>
                </a:solidFill>
                <a:latin typeface="Plus Jakarta Sans"/>
              </a:rPr>
              <a:t>Why is it Relevant Today?</a:t>
            </a:r>
          </a:p>
        </p:txBody>
      </p:sp>
      <p:sp>
        <p:nvSpPr>
          <p:cNvPr id="23" name="TextBox 22"/>
          <p:cNvSpPr txBox="1"/>
          <p:nvPr/>
        </p:nvSpPr>
        <p:spPr>
          <a:xfrm>
            <a:off x="657225" y="3377505"/>
            <a:ext cx="6324600" cy="557212"/>
          </a:xfrm>
          <a:prstGeom prst="rect">
            <a:avLst/>
          </a:prstGeom>
          <a:noFill/>
        </p:spPr>
        <p:txBody>
          <a:bodyPr wrap="square" lIns="0" rIns="0" tIns="0" bIns="0" anchor="t">
            <a:spAutoFit/>
          </a:bodyPr>
          <a:lstStyle/>
          <a:p>
            <a:pPr algn="l">
              <a:lnSpc>
                <a:spcPts val="1462"/>
              </a:lnSpc>
            </a:pPr>
            <a:r>
              <a:rPr b="0" sz="975" i="0" u="none">
                <a:solidFill>
                  <a:srgbClr val="334155"/>
                </a:solidFill>
                <a:latin typeface="Plus Jakarta Sans"/>
              </a:rPr>
              <a:t>Modern attack vectors (DDoS, port probes, privilege escalations) bypass traditional IP-blocking rules. Machine Learning enables behavioral anomaly detection over 148,000+ benchmark network sessions from the NSL-KDD dataset.</a:t>
            </a:r>
          </a:p>
        </p:txBody>
      </p:sp>
      <p:sp>
        <p:nvSpPr>
          <p:cNvPr id="24" name="TextBox 23"/>
          <p:cNvSpPr txBox="1"/>
          <p:nvPr/>
        </p:nvSpPr>
        <p:spPr>
          <a:xfrm>
            <a:off x="657225" y="4430017"/>
            <a:ext cx="8176021" cy="171450"/>
          </a:xfrm>
          <a:prstGeom prst="rect">
            <a:avLst/>
          </a:prstGeom>
          <a:noFill/>
        </p:spPr>
        <p:txBody>
          <a:bodyPr wrap="none" lIns="0" rIns="0" tIns="0" bIns="0" anchor="t">
            <a:spAutoFit/>
          </a:bodyPr>
          <a:lstStyle/>
          <a:p>
            <a:pPr algn="l"/>
            <a:r>
              <a:rPr b="1" sz="1050" i="0" u="none">
                <a:solidFill>
                  <a:srgbClr val="8B1E23"/>
                </a:solidFill>
                <a:latin typeface="Plus Jakarta Sans"/>
              </a:rPr>
              <a:t>Where does our Project Sit?</a:t>
            </a:r>
          </a:p>
        </p:txBody>
      </p:sp>
      <p:sp>
        <p:nvSpPr>
          <p:cNvPr id="25" name="TextBox 24"/>
          <p:cNvSpPr txBox="1"/>
          <p:nvPr/>
        </p:nvSpPr>
        <p:spPr>
          <a:xfrm>
            <a:off x="657225" y="4658617"/>
            <a:ext cx="6324600" cy="371475"/>
          </a:xfrm>
          <a:prstGeom prst="rect">
            <a:avLst/>
          </a:prstGeom>
          <a:noFill/>
        </p:spPr>
        <p:txBody>
          <a:bodyPr wrap="square" lIns="0" rIns="0" tIns="0" bIns="0" anchor="t">
            <a:spAutoFit/>
          </a:bodyPr>
          <a:lstStyle/>
          <a:p>
            <a:pPr algn="l">
              <a:lnSpc>
                <a:spcPts val="1462"/>
              </a:lnSpc>
            </a:pPr>
            <a:r>
              <a:rPr b="0" sz="975" i="0" u="none">
                <a:solidFill>
                  <a:srgbClr val="334155"/>
                </a:solidFill>
                <a:latin typeface="Plus Jakarta Sans"/>
              </a:rPr>
              <a:t>CyberGuard-IDS bridges offline model training and real-time operations by coupling a dual-tier (binary + multiclass) ML engine with a production FastAPI backend and a Streamlit security operations console.</a:t>
            </a:r>
          </a:p>
        </p:txBody>
      </p:sp>
      <p:sp>
        <p:nvSpPr>
          <p:cNvPr id="26" name="TextBox 25"/>
          <p:cNvSpPr txBox="1"/>
          <p:nvPr/>
        </p:nvSpPr>
        <p:spPr>
          <a:xfrm>
            <a:off x="7543800" y="2705992"/>
            <a:ext cx="4648200" cy="152400"/>
          </a:xfrm>
          <a:prstGeom prst="rect">
            <a:avLst/>
          </a:prstGeom>
          <a:noFill/>
        </p:spPr>
        <p:txBody>
          <a:bodyPr wrap="none" lIns="0" rIns="0" tIns="0" bIns="0" anchor="t">
            <a:spAutoFit/>
          </a:bodyPr>
          <a:lstStyle/>
          <a:p>
            <a:pPr algn="l"/>
            <a:r>
              <a:rPr b="1" sz="975" i="0" u="none">
                <a:solidFill>
                  <a:srgbClr val="38BDF8"/>
                </a:solidFill>
                <a:latin typeface="Plus Jakarta Sans"/>
              </a:rPr>
              <a:t>CORE ARCHITECTURE FOCUS</a:t>
            </a:r>
          </a:p>
        </p:txBody>
      </p:sp>
      <p:sp>
        <p:nvSpPr>
          <p:cNvPr id="27" name="TextBox 26"/>
          <p:cNvSpPr txBox="1"/>
          <p:nvPr/>
        </p:nvSpPr>
        <p:spPr>
          <a:xfrm>
            <a:off x="7543800" y="2934592"/>
            <a:ext cx="4648200" cy="247650"/>
          </a:xfrm>
          <a:prstGeom prst="rect">
            <a:avLst/>
          </a:prstGeom>
          <a:noFill/>
        </p:spPr>
        <p:txBody>
          <a:bodyPr wrap="none" lIns="0" rIns="0" tIns="0" bIns="0" anchor="t">
            <a:spAutoFit/>
          </a:bodyPr>
          <a:lstStyle/>
          <a:p>
            <a:pPr algn="l">
              <a:lnSpc>
                <a:spcPts val="1950"/>
              </a:lnSpc>
            </a:pPr>
            <a:r>
              <a:rPr b="1" sz="1500" i="0" u="none">
                <a:solidFill>
                  <a:srgbClr val="FFFFFF"/>
                </a:solidFill>
                <a:latin typeface="Plus Jakarta Sans"/>
              </a:rPr>
              <a:t>Real-Time Packet Behavioral Inference</a:t>
            </a:r>
          </a:p>
        </p:txBody>
      </p:sp>
      <p:sp>
        <p:nvSpPr>
          <p:cNvPr id="28" name="TextBox 27"/>
          <p:cNvSpPr txBox="1"/>
          <p:nvPr/>
        </p:nvSpPr>
        <p:spPr>
          <a:xfrm>
            <a:off x="7743825" y="3296542"/>
            <a:ext cx="2440781" cy="152400"/>
          </a:xfrm>
          <a:prstGeom prst="rect">
            <a:avLst/>
          </a:prstGeom>
          <a:noFill/>
        </p:spPr>
        <p:txBody>
          <a:bodyPr wrap="none" lIns="0" rIns="0" tIns="0" bIns="0" anchor="t">
            <a:spAutoFit/>
          </a:bodyPr>
          <a:lstStyle/>
          <a:p>
            <a:pPr algn="l"/>
            <a:r>
              <a:rPr b="0" sz="975" i="0" u="none">
                <a:solidFill>
                  <a:srgbClr val="CBD5E1"/>
                </a:solidFill>
                <a:latin typeface="Plus Jakarta Sans"/>
              </a:rPr>
              <a:t>41 NSL-KDD Network Dimensions</a:t>
            </a:r>
          </a:p>
        </p:txBody>
      </p:sp>
      <p:sp>
        <p:nvSpPr>
          <p:cNvPr id="29" name="TextBox 28"/>
          <p:cNvSpPr txBox="1"/>
          <p:nvPr/>
        </p:nvSpPr>
        <p:spPr>
          <a:xfrm>
            <a:off x="7743825" y="3544192"/>
            <a:ext cx="2357437" cy="152400"/>
          </a:xfrm>
          <a:prstGeom prst="rect">
            <a:avLst/>
          </a:prstGeom>
          <a:noFill/>
        </p:spPr>
        <p:txBody>
          <a:bodyPr wrap="none" lIns="0" rIns="0" tIns="0" bIns="0" anchor="t">
            <a:spAutoFit/>
          </a:bodyPr>
          <a:lstStyle/>
          <a:p>
            <a:pPr algn="l"/>
            <a:r>
              <a:rPr b="0" sz="975" i="0" u="none">
                <a:solidFill>
                  <a:srgbClr val="CBD5E1"/>
                </a:solidFill>
                <a:latin typeface="Plus Jakarta Sans"/>
              </a:rPr>
              <a:t>Sub-millisecond FastAPI Serving</a:t>
            </a:r>
          </a:p>
        </p:txBody>
      </p:sp>
      <p:sp>
        <p:nvSpPr>
          <p:cNvPr id="30" name="TextBox 29"/>
          <p:cNvSpPr txBox="1"/>
          <p:nvPr/>
        </p:nvSpPr>
        <p:spPr>
          <a:xfrm>
            <a:off x="7743825" y="3791842"/>
            <a:ext cx="2226468" cy="152400"/>
          </a:xfrm>
          <a:prstGeom prst="rect">
            <a:avLst/>
          </a:prstGeom>
          <a:noFill/>
        </p:spPr>
        <p:txBody>
          <a:bodyPr wrap="none" lIns="0" rIns="0" tIns="0" bIns="0" anchor="t">
            <a:spAutoFit/>
          </a:bodyPr>
          <a:lstStyle/>
          <a:p>
            <a:pPr algn="l"/>
            <a:r>
              <a:rPr b="0" sz="975" i="0" u="none">
                <a:solidFill>
                  <a:srgbClr val="CBD5E1"/>
                </a:solidFill>
                <a:latin typeface="Plus Jakarta Sans"/>
              </a:rPr>
              <a:t>Dual Binary &amp; Multiclass Output</a:t>
            </a:r>
          </a:p>
        </p:txBody>
      </p:sp>
      <p:sp>
        <p:nvSpPr>
          <p:cNvPr id="31" name="TextBox 30"/>
          <p:cNvSpPr txBox="1"/>
          <p:nvPr/>
        </p:nvSpPr>
        <p:spPr>
          <a:xfrm>
            <a:off x="7743825" y="4039492"/>
            <a:ext cx="2321718" cy="152400"/>
          </a:xfrm>
          <a:prstGeom prst="rect">
            <a:avLst/>
          </a:prstGeom>
          <a:noFill/>
        </p:spPr>
        <p:txBody>
          <a:bodyPr wrap="none" lIns="0" rIns="0" tIns="0" bIns="0" anchor="t">
            <a:spAutoFit/>
          </a:bodyPr>
          <a:lstStyle/>
          <a:p>
            <a:pPr algn="l"/>
            <a:r>
              <a:rPr b="0" sz="975" i="0" u="none">
                <a:solidFill>
                  <a:srgbClr val="CBD5E1"/>
                </a:solidFill>
                <a:latin typeface="Plus Jakarta Sans"/>
              </a:rPr>
              <a:t>Automated Data Drift Detection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417861"/>
            <a:ext cx="11277600" cy="985837"/>
          </a:xfrm>
          <a:prstGeom prst="roundRect">
            <a:avLst>
              <a:gd name="adj" fmla="val 7729"/>
            </a:avLst>
          </a:prstGeom>
          <a:solidFill>
            <a:srgbClr val="FFF1F2"/>
          </a:solidFill>
          <a:ln w="9525">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3594199"/>
            <a:ext cx="3657600" cy="1333500"/>
          </a:xfrm>
          <a:prstGeom prst="roundRect">
            <a:avLst>
              <a:gd name="adj" fmla="val 57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267200" y="3594199"/>
            <a:ext cx="3657600" cy="1333500"/>
          </a:xfrm>
          <a:prstGeom prst="roundRect">
            <a:avLst>
              <a:gd name="adj" fmla="val 57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77200" y="3594199"/>
            <a:ext cx="3657600" cy="1333500"/>
          </a:xfrm>
          <a:prstGeom prst="roundRect">
            <a:avLst>
              <a:gd name="adj" fmla="val 57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7225" y="3775174"/>
            <a:ext cx="304800" cy="304800"/>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67225" y="3775174"/>
            <a:ext cx="304800" cy="30480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77225" y="3775174"/>
            <a:ext cx="304800" cy="304800"/>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12" name="TextBox 11"/>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13" name="TextBox 12"/>
          <p:cNvSpPr txBox="1"/>
          <p:nvPr/>
        </p:nvSpPr>
        <p:spPr>
          <a:xfrm>
            <a:off x="11363325" y="6562725"/>
            <a:ext cx="657225" cy="142875"/>
          </a:xfrm>
          <a:prstGeom prst="rect">
            <a:avLst/>
          </a:prstGeom>
          <a:noFill/>
        </p:spPr>
        <p:txBody>
          <a:bodyPr wrap="none" lIns="0" rIns="0" tIns="0" bIns="0" anchor="t">
            <a:spAutoFit/>
          </a:bodyPr>
          <a:lstStyle/>
          <a:p>
            <a:pPr algn="l"/>
            <a:r>
              <a:rPr b="1" sz="900" i="0" u="none">
                <a:solidFill>
                  <a:srgbClr val="64748B"/>
                </a:solidFill>
                <a:latin typeface="Plus Jakarta Sans"/>
              </a:rPr>
              <a:t>Slide 4</a:t>
            </a:r>
          </a:p>
        </p:txBody>
      </p:sp>
      <p:sp>
        <p:nvSpPr>
          <p:cNvPr id="14" name="TextBox 13"/>
          <p:cNvSpPr txBox="1"/>
          <p:nvPr/>
        </p:nvSpPr>
        <p:spPr>
          <a:xfrm>
            <a:off x="457200" y="266700"/>
            <a:ext cx="5012531"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2</a:t>
            </a:r>
          </a:p>
        </p:txBody>
      </p:sp>
      <p:sp>
        <p:nvSpPr>
          <p:cNvPr id="15" name="TextBox 14"/>
          <p:cNvSpPr txBox="1"/>
          <p:nvPr/>
        </p:nvSpPr>
        <p:spPr>
          <a:xfrm>
            <a:off x="457200" y="457200"/>
            <a:ext cx="5263157"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Problem Statement &amp; Motivation</a:t>
            </a:r>
          </a:p>
        </p:txBody>
      </p:sp>
      <p:sp>
        <p:nvSpPr>
          <p:cNvPr id="16" name="TextBox 15"/>
          <p:cNvSpPr txBox="1"/>
          <p:nvPr/>
        </p:nvSpPr>
        <p:spPr>
          <a:xfrm>
            <a:off x="695325" y="2598836"/>
            <a:ext cx="11496675" cy="180975"/>
          </a:xfrm>
          <a:prstGeom prst="rect">
            <a:avLst/>
          </a:prstGeom>
          <a:noFill/>
        </p:spPr>
        <p:txBody>
          <a:bodyPr wrap="none" lIns="0" rIns="0" tIns="0" bIns="0" anchor="t">
            <a:spAutoFit/>
          </a:bodyPr>
          <a:lstStyle/>
          <a:p>
            <a:pPr algn="l"/>
            <a:r>
              <a:rPr b="1" sz="1125" i="0" u="none">
                <a:solidFill>
                  <a:srgbClr val="9F1239"/>
                </a:solidFill>
                <a:latin typeface="Plus Jakarta Sans"/>
              </a:rPr>
              <a:t>PROBLEM STATEMENT</a:t>
            </a:r>
          </a:p>
        </p:txBody>
      </p:sp>
      <p:sp>
        <p:nvSpPr>
          <p:cNvPr id="17" name="TextBox 16"/>
          <p:cNvSpPr txBox="1"/>
          <p:nvPr/>
        </p:nvSpPr>
        <p:spPr>
          <a:xfrm>
            <a:off x="695325" y="2836961"/>
            <a:ext cx="10896600" cy="385762"/>
          </a:xfrm>
          <a:prstGeom prst="rect">
            <a:avLst/>
          </a:prstGeom>
          <a:noFill/>
        </p:spPr>
        <p:txBody>
          <a:bodyPr wrap="square" lIns="0" rIns="0" tIns="0" bIns="0" anchor="t">
            <a:spAutoFit/>
          </a:bodyPr>
          <a:lstStyle/>
          <a:p>
            <a:pPr algn="l">
              <a:lnSpc>
                <a:spcPts val="1518"/>
              </a:lnSpc>
            </a:pPr>
            <a:r>
              <a:rPr b="0" sz="1012" i="0" u="none">
                <a:solidFill>
                  <a:srgbClr val="4C0519"/>
                </a:solidFill>
                <a:latin typeface="Plus Jakarta Sans"/>
              </a:rPr>
              <a:t>Traditional firewalls rely on static signatures and pre-configured IP rules that fail against polymorphic cyber attacks, zero-day vulnerabilities, and multi-stage intrusions. To solve this, our project develops an intelligent, end-to-end Network Intrusion Detection System that classifies network packets into benign and specific attack categories in real time.</a:t>
            </a:r>
          </a:p>
        </p:txBody>
      </p:sp>
      <p:sp>
        <p:nvSpPr>
          <p:cNvPr id="18" name="TextBox 17"/>
          <p:cNvSpPr txBox="1"/>
          <p:nvPr/>
        </p:nvSpPr>
        <p:spPr>
          <a:xfrm>
            <a:off x="514350" y="3775174"/>
            <a:ext cx="590550" cy="304800"/>
          </a:xfrm>
          <a:prstGeom prst="rect">
            <a:avLst/>
          </a:prstGeom>
          <a:noFill/>
        </p:spPr>
        <p:txBody>
          <a:bodyPr wrap="square" lIns="0" rIns="0" tIns="0" bIns="0" anchor="ctr">
            <a:spAutoFit/>
          </a:bodyPr>
          <a:lstStyle/>
          <a:p>
            <a:pPr algn="ctr"/>
            <a:r>
              <a:rPr b="1" sz="1200" i="0" u="none">
                <a:solidFill>
                  <a:srgbClr val="0284C7"/>
                </a:solidFill>
                <a:latin typeface="Plus Jakarta Sans"/>
              </a:rPr>
              <a:t>1</a:t>
            </a:r>
          </a:p>
        </p:txBody>
      </p:sp>
      <p:sp>
        <p:nvSpPr>
          <p:cNvPr id="19" name="TextBox 18"/>
          <p:cNvSpPr txBox="1"/>
          <p:nvPr/>
        </p:nvSpPr>
        <p:spPr>
          <a:xfrm>
            <a:off x="1057275" y="3841849"/>
            <a:ext cx="1450181" cy="171450"/>
          </a:xfrm>
          <a:prstGeom prst="rect">
            <a:avLst/>
          </a:prstGeom>
          <a:noFill/>
        </p:spPr>
        <p:txBody>
          <a:bodyPr wrap="none" lIns="0" rIns="0" tIns="0" bIns="0" anchor="t">
            <a:spAutoFit/>
          </a:bodyPr>
          <a:lstStyle/>
          <a:p>
            <a:pPr algn="l"/>
            <a:r>
              <a:rPr b="1" sz="1050" i="0" u="none">
                <a:solidFill>
                  <a:srgbClr val="0F172A"/>
                </a:solidFill>
                <a:latin typeface="Plus Jakarta Sans"/>
              </a:rPr>
              <a:t>Who is affected?</a:t>
            </a:r>
          </a:p>
        </p:txBody>
      </p:sp>
      <p:sp>
        <p:nvSpPr>
          <p:cNvPr id="20" name="TextBox 19"/>
          <p:cNvSpPr txBox="1"/>
          <p:nvPr/>
        </p:nvSpPr>
        <p:spPr>
          <a:xfrm>
            <a:off x="762000" y="4175224"/>
            <a:ext cx="66675" cy="190500"/>
          </a:xfrm>
          <a:prstGeom prst="rect">
            <a:avLst/>
          </a:prstGeom>
          <a:noFill/>
        </p:spPr>
        <p:txBody>
          <a:bodyPr wrap="none" lIns="0" rIns="0" tIns="0" bIns="0" anchor="t">
            <a:spAutoFit/>
          </a:bodyPr>
          <a:lstStyle/>
          <a:p>
            <a:pPr algn="l"/>
            <a:r>
              <a:rPr b="0" sz="937" i="0" u="none">
                <a:solidFill>
                  <a:srgbClr val="475569"/>
                </a:solidFill>
                <a:latin typeface="Plus Jakarta Sans"/>
              </a:rPr>
              <a:t>•</a:t>
            </a:r>
          </a:p>
        </p:txBody>
      </p:sp>
      <p:sp>
        <p:nvSpPr>
          <p:cNvPr id="21" name="TextBox 20"/>
          <p:cNvSpPr txBox="1"/>
          <p:nvPr/>
        </p:nvSpPr>
        <p:spPr>
          <a:xfrm>
            <a:off x="828675" y="4175224"/>
            <a:ext cx="3857625" cy="190500"/>
          </a:xfrm>
          <a:prstGeom prst="rect">
            <a:avLst/>
          </a:prstGeom>
          <a:noFill/>
        </p:spPr>
        <p:txBody>
          <a:bodyPr wrap="none" lIns="66675" rIns="0" tIns="0" bIns="0" anchor="t">
            <a:spAutoFit/>
          </a:bodyPr>
          <a:lstStyle/>
          <a:p>
            <a:pPr algn="l">
              <a:lnSpc>
                <a:spcPts val="1500"/>
              </a:lnSpc>
            </a:pPr>
            <a:r>
              <a:rPr b="0" sz="937" i="0" u="none">
                <a:solidFill>
                  <a:srgbClr val="475569"/>
                </a:solidFill>
                <a:latin typeface="Plus Jakarta Sans"/>
              </a:rPr>
              <a:t>Enterprise corporate networks</a:t>
            </a:r>
          </a:p>
        </p:txBody>
      </p:sp>
      <p:sp>
        <p:nvSpPr>
          <p:cNvPr id="22" name="TextBox 21"/>
          <p:cNvSpPr txBox="1"/>
          <p:nvPr/>
        </p:nvSpPr>
        <p:spPr>
          <a:xfrm>
            <a:off x="762000" y="4365724"/>
            <a:ext cx="66675" cy="190500"/>
          </a:xfrm>
          <a:prstGeom prst="rect">
            <a:avLst/>
          </a:prstGeom>
          <a:noFill/>
        </p:spPr>
        <p:txBody>
          <a:bodyPr wrap="none" lIns="0" rIns="0" tIns="0" bIns="0" anchor="t">
            <a:spAutoFit/>
          </a:bodyPr>
          <a:lstStyle/>
          <a:p>
            <a:pPr algn="l"/>
            <a:r>
              <a:rPr b="0" sz="937" i="0" u="none">
                <a:solidFill>
                  <a:srgbClr val="475569"/>
                </a:solidFill>
                <a:latin typeface="Plus Jakarta Sans"/>
              </a:rPr>
              <a:t>•</a:t>
            </a:r>
          </a:p>
        </p:txBody>
      </p:sp>
      <p:sp>
        <p:nvSpPr>
          <p:cNvPr id="23" name="TextBox 22"/>
          <p:cNvSpPr txBox="1"/>
          <p:nvPr/>
        </p:nvSpPr>
        <p:spPr>
          <a:xfrm>
            <a:off x="828675" y="4365724"/>
            <a:ext cx="3857625" cy="190500"/>
          </a:xfrm>
          <a:prstGeom prst="rect">
            <a:avLst/>
          </a:prstGeom>
          <a:noFill/>
        </p:spPr>
        <p:txBody>
          <a:bodyPr wrap="none" lIns="66675" rIns="0" tIns="0" bIns="0" anchor="t">
            <a:spAutoFit/>
          </a:bodyPr>
          <a:lstStyle/>
          <a:p>
            <a:pPr algn="l">
              <a:lnSpc>
                <a:spcPts val="1500"/>
              </a:lnSpc>
            </a:pPr>
            <a:r>
              <a:rPr b="0" sz="937" i="0" u="none">
                <a:solidFill>
                  <a:srgbClr val="475569"/>
                </a:solidFill>
                <a:latin typeface="Plus Jakarta Sans"/>
              </a:rPr>
              <a:t>Cloud hosting infrastructures</a:t>
            </a:r>
          </a:p>
        </p:txBody>
      </p:sp>
      <p:sp>
        <p:nvSpPr>
          <p:cNvPr id="24" name="TextBox 23"/>
          <p:cNvSpPr txBox="1"/>
          <p:nvPr/>
        </p:nvSpPr>
        <p:spPr>
          <a:xfrm>
            <a:off x="762000" y="4556224"/>
            <a:ext cx="66675" cy="190500"/>
          </a:xfrm>
          <a:prstGeom prst="rect">
            <a:avLst/>
          </a:prstGeom>
          <a:noFill/>
        </p:spPr>
        <p:txBody>
          <a:bodyPr wrap="none" lIns="0" rIns="0" tIns="0" bIns="0" anchor="t">
            <a:spAutoFit/>
          </a:bodyPr>
          <a:lstStyle/>
          <a:p>
            <a:pPr algn="l"/>
            <a:r>
              <a:rPr b="0" sz="937" i="0" u="none">
                <a:solidFill>
                  <a:srgbClr val="475569"/>
                </a:solidFill>
                <a:latin typeface="Plus Jakarta Sans"/>
              </a:rPr>
              <a:t>•</a:t>
            </a:r>
          </a:p>
        </p:txBody>
      </p:sp>
      <p:sp>
        <p:nvSpPr>
          <p:cNvPr id="25" name="TextBox 24"/>
          <p:cNvSpPr txBox="1"/>
          <p:nvPr/>
        </p:nvSpPr>
        <p:spPr>
          <a:xfrm>
            <a:off x="828675" y="4556224"/>
            <a:ext cx="3857625" cy="190500"/>
          </a:xfrm>
          <a:prstGeom prst="rect">
            <a:avLst/>
          </a:prstGeom>
          <a:noFill/>
        </p:spPr>
        <p:txBody>
          <a:bodyPr wrap="none" lIns="66675" rIns="0" tIns="0" bIns="0" anchor="t">
            <a:spAutoFit/>
          </a:bodyPr>
          <a:lstStyle/>
          <a:p>
            <a:pPr algn="l">
              <a:lnSpc>
                <a:spcPts val="1500"/>
              </a:lnSpc>
            </a:pPr>
            <a:r>
              <a:rPr b="0" sz="937" i="0" u="none">
                <a:solidFill>
                  <a:srgbClr val="475569"/>
                </a:solidFill>
                <a:latin typeface="Plus Jakarta Sans"/>
              </a:rPr>
              <a:t>Security Operations Centers (SOC)</a:t>
            </a:r>
          </a:p>
        </p:txBody>
      </p:sp>
      <p:sp>
        <p:nvSpPr>
          <p:cNvPr id="26" name="TextBox 25"/>
          <p:cNvSpPr txBox="1"/>
          <p:nvPr/>
        </p:nvSpPr>
        <p:spPr>
          <a:xfrm>
            <a:off x="4324350" y="3775174"/>
            <a:ext cx="590550" cy="304800"/>
          </a:xfrm>
          <a:prstGeom prst="rect">
            <a:avLst/>
          </a:prstGeom>
          <a:noFill/>
        </p:spPr>
        <p:txBody>
          <a:bodyPr wrap="square" lIns="0" rIns="0" tIns="0" bIns="0" anchor="ctr">
            <a:spAutoFit/>
          </a:bodyPr>
          <a:lstStyle/>
          <a:p>
            <a:pPr algn="ctr"/>
            <a:r>
              <a:rPr b="1" sz="1200" i="0" u="none">
                <a:solidFill>
                  <a:srgbClr val="0F172A"/>
                </a:solidFill>
                <a:latin typeface="Plus Jakarta Sans"/>
              </a:rPr>
              <a:t>2</a:t>
            </a:r>
          </a:p>
        </p:txBody>
      </p:sp>
      <p:sp>
        <p:nvSpPr>
          <p:cNvPr id="27" name="TextBox 26"/>
          <p:cNvSpPr txBox="1"/>
          <p:nvPr/>
        </p:nvSpPr>
        <p:spPr>
          <a:xfrm>
            <a:off x="4867275" y="3841849"/>
            <a:ext cx="1450181" cy="171450"/>
          </a:xfrm>
          <a:prstGeom prst="rect">
            <a:avLst/>
          </a:prstGeom>
          <a:noFill/>
        </p:spPr>
        <p:txBody>
          <a:bodyPr wrap="none" lIns="0" rIns="0" tIns="0" bIns="0" anchor="t">
            <a:spAutoFit/>
          </a:bodyPr>
          <a:lstStyle/>
          <a:p>
            <a:pPr algn="l"/>
            <a:r>
              <a:rPr b="1" sz="1050" i="0" u="none">
                <a:solidFill>
                  <a:srgbClr val="0F172A"/>
                </a:solidFill>
                <a:latin typeface="Plus Jakarta Sans"/>
              </a:rPr>
              <a:t>What is the cost?</a:t>
            </a:r>
          </a:p>
        </p:txBody>
      </p:sp>
      <p:sp>
        <p:nvSpPr>
          <p:cNvPr id="28" name="TextBox 27"/>
          <p:cNvSpPr txBox="1"/>
          <p:nvPr/>
        </p:nvSpPr>
        <p:spPr>
          <a:xfrm>
            <a:off x="4572000" y="4175224"/>
            <a:ext cx="66675" cy="190500"/>
          </a:xfrm>
          <a:prstGeom prst="rect">
            <a:avLst/>
          </a:prstGeom>
          <a:noFill/>
        </p:spPr>
        <p:txBody>
          <a:bodyPr wrap="none" lIns="0" rIns="0" tIns="0" bIns="0" anchor="t">
            <a:spAutoFit/>
          </a:bodyPr>
          <a:lstStyle/>
          <a:p>
            <a:pPr algn="l"/>
            <a:r>
              <a:rPr b="0" sz="937" i="0" u="none">
                <a:solidFill>
                  <a:srgbClr val="475569"/>
                </a:solidFill>
                <a:latin typeface="Plus Jakarta Sans"/>
              </a:rPr>
              <a:t>•</a:t>
            </a:r>
          </a:p>
        </p:txBody>
      </p:sp>
      <p:sp>
        <p:nvSpPr>
          <p:cNvPr id="29" name="TextBox 28"/>
          <p:cNvSpPr txBox="1"/>
          <p:nvPr/>
        </p:nvSpPr>
        <p:spPr>
          <a:xfrm>
            <a:off x="4638675" y="4175224"/>
            <a:ext cx="3857625" cy="190500"/>
          </a:xfrm>
          <a:prstGeom prst="rect">
            <a:avLst/>
          </a:prstGeom>
          <a:noFill/>
        </p:spPr>
        <p:txBody>
          <a:bodyPr wrap="none" lIns="66675" rIns="0" tIns="0" bIns="0" anchor="t">
            <a:spAutoFit/>
          </a:bodyPr>
          <a:lstStyle/>
          <a:p>
            <a:pPr algn="l">
              <a:lnSpc>
                <a:spcPts val="1500"/>
              </a:lnSpc>
            </a:pPr>
            <a:r>
              <a:rPr b="0" sz="937" i="0" u="none">
                <a:solidFill>
                  <a:srgbClr val="475569"/>
                </a:solidFill>
                <a:latin typeface="Plus Jakarta Sans"/>
              </a:rPr>
              <a:t>Crippling downtime from DoS attacks</a:t>
            </a:r>
          </a:p>
        </p:txBody>
      </p:sp>
      <p:sp>
        <p:nvSpPr>
          <p:cNvPr id="30" name="TextBox 29"/>
          <p:cNvSpPr txBox="1"/>
          <p:nvPr/>
        </p:nvSpPr>
        <p:spPr>
          <a:xfrm>
            <a:off x="4572000" y="4365724"/>
            <a:ext cx="66675" cy="190500"/>
          </a:xfrm>
          <a:prstGeom prst="rect">
            <a:avLst/>
          </a:prstGeom>
          <a:noFill/>
        </p:spPr>
        <p:txBody>
          <a:bodyPr wrap="none" lIns="0" rIns="0" tIns="0" bIns="0" anchor="t">
            <a:spAutoFit/>
          </a:bodyPr>
          <a:lstStyle/>
          <a:p>
            <a:pPr algn="l"/>
            <a:r>
              <a:rPr b="0" sz="937" i="0" u="none">
                <a:solidFill>
                  <a:srgbClr val="475569"/>
                </a:solidFill>
                <a:latin typeface="Plus Jakarta Sans"/>
              </a:rPr>
              <a:t>•</a:t>
            </a:r>
          </a:p>
        </p:txBody>
      </p:sp>
      <p:sp>
        <p:nvSpPr>
          <p:cNvPr id="31" name="TextBox 30"/>
          <p:cNvSpPr txBox="1"/>
          <p:nvPr/>
        </p:nvSpPr>
        <p:spPr>
          <a:xfrm>
            <a:off x="4638675" y="4365724"/>
            <a:ext cx="3857625" cy="190500"/>
          </a:xfrm>
          <a:prstGeom prst="rect">
            <a:avLst/>
          </a:prstGeom>
          <a:noFill/>
        </p:spPr>
        <p:txBody>
          <a:bodyPr wrap="none" lIns="66675" rIns="0" tIns="0" bIns="0" anchor="t">
            <a:spAutoFit/>
          </a:bodyPr>
          <a:lstStyle/>
          <a:p>
            <a:pPr algn="l">
              <a:lnSpc>
                <a:spcPts val="1500"/>
              </a:lnSpc>
            </a:pPr>
            <a:r>
              <a:rPr b="0" sz="937" i="0" u="none">
                <a:solidFill>
                  <a:srgbClr val="475569"/>
                </a:solidFill>
                <a:latin typeface="Plus Jakarta Sans"/>
              </a:rPr>
              <a:t>Critical data breaches and IP theft</a:t>
            </a:r>
          </a:p>
        </p:txBody>
      </p:sp>
      <p:sp>
        <p:nvSpPr>
          <p:cNvPr id="32" name="TextBox 31"/>
          <p:cNvSpPr txBox="1"/>
          <p:nvPr/>
        </p:nvSpPr>
        <p:spPr>
          <a:xfrm>
            <a:off x="4572000" y="4556224"/>
            <a:ext cx="66675" cy="190500"/>
          </a:xfrm>
          <a:prstGeom prst="rect">
            <a:avLst/>
          </a:prstGeom>
          <a:noFill/>
        </p:spPr>
        <p:txBody>
          <a:bodyPr wrap="none" lIns="0" rIns="0" tIns="0" bIns="0" anchor="t">
            <a:spAutoFit/>
          </a:bodyPr>
          <a:lstStyle/>
          <a:p>
            <a:pPr algn="l"/>
            <a:r>
              <a:rPr b="0" sz="937" i="0" u="none">
                <a:solidFill>
                  <a:srgbClr val="475569"/>
                </a:solidFill>
                <a:latin typeface="Plus Jakarta Sans"/>
              </a:rPr>
              <a:t>•</a:t>
            </a:r>
          </a:p>
        </p:txBody>
      </p:sp>
      <p:sp>
        <p:nvSpPr>
          <p:cNvPr id="33" name="TextBox 32"/>
          <p:cNvSpPr txBox="1"/>
          <p:nvPr/>
        </p:nvSpPr>
        <p:spPr>
          <a:xfrm>
            <a:off x="4638675" y="4556224"/>
            <a:ext cx="3857625" cy="190500"/>
          </a:xfrm>
          <a:prstGeom prst="rect">
            <a:avLst/>
          </a:prstGeom>
          <a:noFill/>
        </p:spPr>
        <p:txBody>
          <a:bodyPr wrap="none" lIns="66675" rIns="0" tIns="0" bIns="0" anchor="t">
            <a:spAutoFit/>
          </a:bodyPr>
          <a:lstStyle/>
          <a:p>
            <a:pPr algn="l">
              <a:lnSpc>
                <a:spcPts val="1500"/>
              </a:lnSpc>
            </a:pPr>
            <a:r>
              <a:rPr b="0" sz="937" i="0" u="none">
                <a:solidFill>
                  <a:srgbClr val="475569"/>
                </a:solidFill>
                <a:latin typeface="Plus Jakarta Sans"/>
              </a:rPr>
              <a:t>High alert fatigue on false alarms</a:t>
            </a:r>
          </a:p>
        </p:txBody>
      </p:sp>
      <p:sp>
        <p:nvSpPr>
          <p:cNvPr id="34" name="TextBox 33"/>
          <p:cNvSpPr txBox="1"/>
          <p:nvPr/>
        </p:nvSpPr>
        <p:spPr>
          <a:xfrm>
            <a:off x="8134350" y="3775174"/>
            <a:ext cx="590550" cy="304800"/>
          </a:xfrm>
          <a:prstGeom prst="rect">
            <a:avLst/>
          </a:prstGeom>
          <a:noFill/>
        </p:spPr>
        <p:txBody>
          <a:bodyPr wrap="square" lIns="0" rIns="0" tIns="0" bIns="0" anchor="ctr">
            <a:spAutoFit/>
          </a:bodyPr>
          <a:lstStyle/>
          <a:p>
            <a:pPr algn="ctr"/>
            <a:r>
              <a:rPr b="1" sz="1200" i="0" u="none">
                <a:solidFill>
                  <a:srgbClr val="16A34A"/>
                </a:solidFill>
                <a:latin typeface="Plus Jakarta Sans"/>
              </a:rPr>
              <a:t>3</a:t>
            </a:r>
          </a:p>
        </p:txBody>
      </p:sp>
      <p:sp>
        <p:nvSpPr>
          <p:cNvPr id="35" name="TextBox 34"/>
          <p:cNvSpPr txBox="1"/>
          <p:nvPr/>
        </p:nvSpPr>
        <p:spPr>
          <a:xfrm>
            <a:off x="8677275" y="3841849"/>
            <a:ext cx="1500187" cy="171450"/>
          </a:xfrm>
          <a:prstGeom prst="rect">
            <a:avLst/>
          </a:prstGeom>
          <a:noFill/>
        </p:spPr>
        <p:txBody>
          <a:bodyPr wrap="none" lIns="0" rIns="0" tIns="0" bIns="0" anchor="t">
            <a:spAutoFit/>
          </a:bodyPr>
          <a:lstStyle/>
          <a:p>
            <a:pPr algn="l"/>
            <a:r>
              <a:rPr b="1" sz="1050" i="0" u="none">
                <a:solidFill>
                  <a:srgbClr val="0F172A"/>
                </a:solidFill>
                <a:latin typeface="Plus Jakarta Sans"/>
              </a:rPr>
              <a:t>Why solve it now?</a:t>
            </a:r>
          </a:p>
        </p:txBody>
      </p:sp>
      <p:sp>
        <p:nvSpPr>
          <p:cNvPr id="36" name="TextBox 35"/>
          <p:cNvSpPr txBox="1"/>
          <p:nvPr/>
        </p:nvSpPr>
        <p:spPr>
          <a:xfrm>
            <a:off x="8382000" y="4175224"/>
            <a:ext cx="66675" cy="190500"/>
          </a:xfrm>
          <a:prstGeom prst="rect">
            <a:avLst/>
          </a:prstGeom>
          <a:noFill/>
        </p:spPr>
        <p:txBody>
          <a:bodyPr wrap="none" lIns="0" rIns="0" tIns="0" bIns="0" anchor="t">
            <a:spAutoFit/>
          </a:bodyPr>
          <a:lstStyle/>
          <a:p>
            <a:pPr algn="l"/>
            <a:r>
              <a:rPr b="0" sz="937" i="0" u="none">
                <a:solidFill>
                  <a:srgbClr val="475569"/>
                </a:solidFill>
                <a:latin typeface="Plus Jakarta Sans"/>
              </a:rPr>
              <a:t>•</a:t>
            </a:r>
          </a:p>
        </p:txBody>
      </p:sp>
      <p:sp>
        <p:nvSpPr>
          <p:cNvPr id="37" name="TextBox 36"/>
          <p:cNvSpPr txBox="1"/>
          <p:nvPr/>
        </p:nvSpPr>
        <p:spPr>
          <a:xfrm>
            <a:off x="8448675" y="4175224"/>
            <a:ext cx="3743325" cy="190500"/>
          </a:xfrm>
          <a:prstGeom prst="rect">
            <a:avLst/>
          </a:prstGeom>
          <a:noFill/>
        </p:spPr>
        <p:txBody>
          <a:bodyPr wrap="none" lIns="66675" rIns="0" tIns="0" bIns="0" anchor="t">
            <a:spAutoFit/>
          </a:bodyPr>
          <a:lstStyle/>
          <a:p>
            <a:pPr algn="l">
              <a:lnSpc>
                <a:spcPts val="1500"/>
              </a:lnSpc>
            </a:pPr>
            <a:r>
              <a:rPr b="0" sz="937" i="0" u="none">
                <a:solidFill>
                  <a:srgbClr val="475569"/>
                </a:solidFill>
                <a:latin typeface="Plus Jakarta Sans"/>
              </a:rPr>
              <a:t>ML evaluates 41 packet behaviors</a:t>
            </a:r>
          </a:p>
        </p:txBody>
      </p:sp>
      <p:sp>
        <p:nvSpPr>
          <p:cNvPr id="38" name="TextBox 37"/>
          <p:cNvSpPr txBox="1"/>
          <p:nvPr/>
        </p:nvSpPr>
        <p:spPr>
          <a:xfrm>
            <a:off x="8382000" y="4365724"/>
            <a:ext cx="66675" cy="190500"/>
          </a:xfrm>
          <a:prstGeom prst="rect">
            <a:avLst/>
          </a:prstGeom>
          <a:noFill/>
        </p:spPr>
        <p:txBody>
          <a:bodyPr wrap="none" lIns="0" rIns="0" tIns="0" bIns="0" anchor="t">
            <a:spAutoFit/>
          </a:bodyPr>
          <a:lstStyle/>
          <a:p>
            <a:pPr algn="l"/>
            <a:r>
              <a:rPr b="0" sz="937" i="0" u="none">
                <a:solidFill>
                  <a:srgbClr val="475569"/>
                </a:solidFill>
                <a:latin typeface="Plus Jakarta Sans"/>
              </a:rPr>
              <a:t>•</a:t>
            </a:r>
          </a:p>
        </p:txBody>
      </p:sp>
      <p:sp>
        <p:nvSpPr>
          <p:cNvPr id="39" name="TextBox 38"/>
          <p:cNvSpPr txBox="1"/>
          <p:nvPr/>
        </p:nvSpPr>
        <p:spPr>
          <a:xfrm>
            <a:off x="8448675" y="4365724"/>
            <a:ext cx="3743325" cy="190500"/>
          </a:xfrm>
          <a:prstGeom prst="rect">
            <a:avLst/>
          </a:prstGeom>
          <a:noFill/>
        </p:spPr>
        <p:txBody>
          <a:bodyPr wrap="none" lIns="66675" rIns="0" tIns="0" bIns="0" anchor="t">
            <a:spAutoFit/>
          </a:bodyPr>
          <a:lstStyle/>
          <a:p>
            <a:pPr algn="l">
              <a:lnSpc>
                <a:spcPts val="1500"/>
              </a:lnSpc>
            </a:pPr>
            <a:r>
              <a:rPr b="0" sz="937" i="0" u="none">
                <a:solidFill>
                  <a:srgbClr val="475569"/>
                </a:solidFill>
                <a:latin typeface="Plus Jakarta Sans"/>
              </a:rPr>
              <a:t>FastAPI enables microsecond inference</a:t>
            </a:r>
          </a:p>
        </p:txBody>
      </p:sp>
      <p:sp>
        <p:nvSpPr>
          <p:cNvPr id="40" name="TextBox 39"/>
          <p:cNvSpPr txBox="1"/>
          <p:nvPr/>
        </p:nvSpPr>
        <p:spPr>
          <a:xfrm>
            <a:off x="8382000" y="4556224"/>
            <a:ext cx="66675" cy="190500"/>
          </a:xfrm>
          <a:prstGeom prst="rect">
            <a:avLst/>
          </a:prstGeom>
          <a:noFill/>
        </p:spPr>
        <p:txBody>
          <a:bodyPr wrap="none" lIns="0" rIns="0" tIns="0" bIns="0" anchor="t">
            <a:spAutoFit/>
          </a:bodyPr>
          <a:lstStyle/>
          <a:p>
            <a:pPr algn="l"/>
            <a:r>
              <a:rPr b="0" sz="937" i="0" u="none">
                <a:solidFill>
                  <a:srgbClr val="475569"/>
                </a:solidFill>
                <a:latin typeface="Plus Jakarta Sans"/>
              </a:rPr>
              <a:t>•</a:t>
            </a:r>
          </a:p>
        </p:txBody>
      </p:sp>
      <p:sp>
        <p:nvSpPr>
          <p:cNvPr id="41" name="TextBox 40"/>
          <p:cNvSpPr txBox="1"/>
          <p:nvPr/>
        </p:nvSpPr>
        <p:spPr>
          <a:xfrm>
            <a:off x="8448675" y="4556224"/>
            <a:ext cx="3743325" cy="190500"/>
          </a:xfrm>
          <a:prstGeom prst="rect">
            <a:avLst/>
          </a:prstGeom>
          <a:noFill/>
        </p:spPr>
        <p:txBody>
          <a:bodyPr wrap="none" lIns="66675" rIns="0" tIns="0" bIns="0" anchor="t">
            <a:spAutoFit/>
          </a:bodyPr>
          <a:lstStyle/>
          <a:p>
            <a:pPr algn="l">
              <a:lnSpc>
                <a:spcPts val="1500"/>
              </a:lnSpc>
            </a:pPr>
            <a:r>
              <a:rPr b="0" sz="937" i="0" u="none">
                <a:solidFill>
                  <a:srgbClr val="475569"/>
                </a:solidFill>
                <a:latin typeface="Plus Jakarta Sans"/>
              </a:rPr>
              <a:t>Drift checks preserve longevity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739580"/>
            <a:ext cx="11277600" cy="33337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4739580"/>
            <a:ext cx="38100" cy="333375"/>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3103661"/>
            <a:ext cx="56376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0960" y="3103661"/>
            <a:ext cx="20298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050827" y="3103661"/>
            <a:ext cx="28194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70227" y="3103661"/>
            <a:ext cx="29320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802290" y="3103661"/>
            <a:ext cx="293250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606105"/>
            <a:ext cx="56376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20960" y="3606105"/>
            <a:ext cx="20298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50827" y="3606105"/>
            <a:ext cx="28194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70227" y="3606105"/>
            <a:ext cx="29320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02290" y="3606105"/>
            <a:ext cx="293250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108549"/>
            <a:ext cx="56376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20960" y="4108549"/>
            <a:ext cx="20298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50827" y="4108549"/>
            <a:ext cx="28194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70227" y="4108549"/>
            <a:ext cx="29320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02290" y="4108549"/>
            <a:ext cx="293250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610992"/>
            <a:ext cx="56376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20960" y="4610992"/>
            <a:ext cx="20298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050827" y="4610992"/>
            <a:ext cx="28194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70227" y="4610992"/>
            <a:ext cx="29320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02290" y="4610992"/>
            <a:ext cx="293250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6" name="Table 25"/>
          <p:cNvGraphicFramePr>
            <a:graphicFrameLocks noGrp="1"/>
          </p:cNvGraphicFramePr>
          <p:nvPr/>
        </p:nvGraphicFramePr>
        <p:xfrm>
          <a:off x="457200" y="2272605"/>
          <a:ext cx="11277597" cy="2352675"/>
        </p:xfrm>
        <a:graphic>
          <a:graphicData uri="http://schemas.openxmlformats.org/drawingml/2006/table">
            <a:tbl>
              <a:tblPr firstRow="0" bandRow="0">
                <a:lnL>
                  <a:noFill/>
                </a:lnL>
                <a:lnR>
                  <a:noFill/>
                </a:lnR>
                <a:lnT>
                  <a:noFill/>
                </a:lnT>
                <a:lnB>
                  <a:noFill/>
                </a:lnB>
                <a:lnV>
                  <a:noFill/>
                </a:lnV>
                <a:lnH>
                  <a:noFill/>
                </a:lnH>
              </a:tblPr>
              <a:tblGrid>
                <a:gridCol w="563760"/>
                <a:gridCol w="2029866"/>
                <a:gridCol w="2819400"/>
                <a:gridCol w="2932062"/>
                <a:gridCol w="2932509"/>
              </a:tblGrid>
              <a:tr h="470535">
                <a:tc>
                  <a:txBody>
                    <a:bodyPr/>
                    <a:lstStyle/>
                    <a:p>
                      <a:pPr algn="l"/>
                      <a:r>
                        <a:rPr b="1" sz="937" i="0" u="none">
                          <a:solidFill>
                            <a:srgbClr val="FFFFFF"/>
                          </a:solidFill>
                          <a:latin typeface="Plus Jakarta Sans"/>
                        </a:rPr>
                        <a:t>S.No</a:t>
                      </a:r>
                    </a:p>
                  </a:txBody>
                  <a:tcPr anchor="ctr" marL="63500" marR="63500" marT="25400" marB="25400">
                    <a:lnL>
                      <a:noFill/>
                    </a:lnL>
                    <a:lnR>
                      <a:noFill/>
                    </a:lnR>
                    <a:lnT>
                      <a:noFill/>
                    </a:lnT>
                    <a:lnB>
                      <a:noFill/>
                    </a:lnB>
                    <a:solidFill>
                      <a:srgbClr val="8B1E23"/>
                    </a:solidFill>
                  </a:tcPr>
                </a:tc>
                <a:tc>
                  <a:txBody>
                    <a:bodyPr/>
                    <a:lstStyle/>
                    <a:p>
                      <a:pPr algn="l"/>
                      <a:r>
                        <a:rPr b="1" sz="937" i="0" u="none">
                          <a:solidFill>
                            <a:srgbClr val="FFFFFF"/>
                          </a:solidFill>
                          <a:latin typeface="Plus Jakarta Sans"/>
                        </a:rPr>
                        <a:t>Author &amp; Year</a:t>
                      </a:r>
                    </a:p>
                  </a:txBody>
                  <a:tcPr anchor="ctr" marL="63500" marR="63500" marT="25400" marB="25400">
                    <a:lnL>
                      <a:noFill/>
                    </a:lnL>
                    <a:lnR>
                      <a:noFill/>
                    </a:lnR>
                    <a:lnT>
                      <a:noFill/>
                    </a:lnT>
                    <a:lnB>
                      <a:noFill/>
                    </a:lnB>
                    <a:solidFill>
                      <a:srgbClr val="8B1E23"/>
                    </a:solidFill>
                  </a:tcPr>
                </a:tc>
                <a:tc>
                  <a:txBody>
                    <a:bodyPr/>
                    <a:lstStyle/>
                    <a:p>
                      <a:pPr algn="l"/>
                      <a:r>
                        <a:rPr b="1" sz="937" i="0" u="none">
                          <a:solidFill>
                            <a:srgbClr val="FFFFFF"/>
                          </a:solidFill>
                          <a:latin typeface="Plus Jakarta Sans"/>
                        </a:rPr>
                        <a:t>Technique &amp; Tools</a:t>
                      </a:r>
                    </a:p>
                  </a:txBody>
                  <a:tcPr anchor="ctr" marL="63500" marR="63500" marT="25400" marB="25400">
                    <a:lnL>
                      <a:noFill/>
                    </a:lnL>
                    <a:lnR>
                      <a:noFill/>
                    </a:lnR>
                    <a:lnT>
                      <a:noFill/>
                    </a:lnT>
                    <a:lnB>
                      <a:noFill/>
                    </a:lnB>
                    <a:solidFill>
                      <a:srgbClr val="8B1E23"/>
                    </a:solidFill>
                  </a:tcPr>
                </a:tc>
                <a:tc>
                  <a:txBody>
                    <a:bodyPr/>
                    <a:lstStyle/>
                    <a:p>
                      <a:pPr algn="l"/>
                      <a:r>
                        <a:rPr b="1" sz="937" i="0" u="none">
                          <a:solidFill>
                            <a:srgbClr val="FFFFFF"/>
                          </a:solidFill>
                          <a:latin typeface="Plus Jakarta Sans"/>
                        </a:rPr>
                        <a:t>Key Findings</a:t>
                      </a:r>
                    </a:p>
                  </a:txBody>
                  <a:tcPr anchor="ctr" marL="63500" marR="63500" marT="25400" marB="25400">
                    <a:lnL>
                      <a:noFill/>
                    </a:lnL>
                    <a:lnR>
                      <a:noFill/>
                    </a:lnR>
                    <a:lnT>
                      <a:noFill/>
                    </a:lnT>
                    <a:lnB>
                      <a:noFill/>
                    </a:lnB>
                    <a:solidFill>
                      <a:srgbClr val="8B1E23"/>
                    </a:solidFill>
                  </a:tcPr>
                </a:tc>
                <a:tc>
                  <a:txBody>
                    <a:bodyPr/>
                    <a:lstStyle/>
                    <a:p>
                      <a:pPr algn="l"/>
                      <a:r>
                        <a:rPr b="1" sz="937" i="0" u="none">
                          <a:solidFill>
                            <a:srgbClr val="FFFFFF"/>
                          </a:solidFill>
                          <a:latin typeface="Plus Jakarta Sans"/>
                        </a:rPr>
                        <a:t>Limitation / Gap</a:t>
                      </a:r>
                    </a:p>
                  </a:txBody>
                  <a:tcPr anchor="ctr" marL="63500" marR="63500" marT="25400" marB="25400">
                    <a:lnL>
                      <a:noFill/>
                    </a:lnL>
                    <a:lnR>
                      <a:noFill/>
                    </a:lnR>
                    <a:lnT>
                      <a:noFill/>
                    </a:lnT>
                    <a:lnB>
                      <a:noFill/>
                    </a:lnB>
                    <a:solidFill>
                      <a:srgbClr val="8B1E23"/>
                    </a:solidFill>
                  </a:tcPr>
                </a:tc>
              </a:tr>
              <a:tr h="470535">
                <a:tc>
                  <a:txBody>
                    <a:bodyPr/>
                    <a:lstStyle/>
                    <a:p>
                      <a:pPr algn="l"/>
                      <a:r>
                        <a:rPr b="0" sz="937" i="0" u="none">
                          <a:solidFill>
                            <a:srgbClr val="334155"/>
                          </a:solidFill>
                          <a:latin typeface="Plus Jakarta Sans"/>
                        </a:rPr>
                        <a:t>1</a:t>
                      </a:r>
                    </a:p>
                  </a:txBody>
                  <a:tcPr anchor="ctr" marL="63500" marR="63500" marT="25400" marB="25400">
                    <a:lnL>
                      <a:noFill/>
                    </a:lnL>
                    <a:lnR>
                      <a:noFill/>
                    </a:lnR>
                    <a:lnT>
                      <a:noFill/>
                    </a:lnT>
                    <a:lnB>
                      <a:noFill/>
                    </a:lnB>
                    <a:solidFill>
                      <a:srgbClr val="FFFFFF"/>
                    </a:solidFill>
                  </a:tcPr>
                </a:tc>
                <a:tc>
                  <a:txBody>
                    <a:bodyPr/>
                    <a:lstStyle/>
                    <a:p>
                      <a:pPr algn="l"/>
                      <a:r>
                        <a:rPr b="1" sz="937" i="0" u="none">
                          <a:solidFill>
                            <a:srgbClr val="334155"/>
                          </a:solidFill>
                          <a:latin typeface="Plus Jakarta Sans"/>
                        </a:rPr>
                        <a:t>Kumar et al. (2026)</a:t>
                      </a:r>
                    </a:p>
                  </a:txBody>
                  <a:tcPr anchor="ctr" marL="63500" marR="63500" marT="25400" marB="25400">
                    <a:lnL>
                      <a:noFill/>
                    </a:lnL>
                    <a:lnR>
                      <a:noFill/>
                    </a:lnR>
                    <a:lnT>
                      <a:noFill/>
                    </a:lnT>
                    <a:lnB>
                      <a:noFill/>
                    </a:lnB>
                    <a:solidFill>
                      <a:srgbClr val="FFFFFF"/>
                    </a:solidFill>
                  </a:tcPr>
                </a:tc>
                <a:tc>
                  <a:txBody>
                    <a:bodyPr/>
                    <a:lstStyle/>
                    <a:p>
                      <a:pPr algn="l"/>
                      <a:r>
                        <a:rPr b="0" sz="937" i="0" u="none">
                          <a:solidFill>
                            <a:srgbClr val="334155"/>
                          </a:solidFill>
                          <a:latin typeface="Plus Jakarta Sans"/>
                        </a:rPr>
                        <a:t>Hybrid Random Forest &amp; XGBoost on NSL-KDD</a:t>
                      </a:r>
                    </a:p>
                  </a:txBody>
                  <a:tcPr anchor="ctr" marL="63500" marR="63500" marT="25400" marB="25400">
                    <a:lnL>
                      <a:noFill/>
                    </a:lnL>
                    <a:lnR>
                      <a:noFill/>
                    </a:lnR>
                    <a:lnT>
                      <a:noFill/>
                    </a:lnT>
                    <a:lnB>
                      <a:noFill/>
                    </a:lnB>
                    <a:solidFill>
                      <a:srgbClr val="FFFFFF"/>
                    </a:solidFill>
                  </a:tcPr>
                </a:tc>
                <a:tc>
                  <a:txBody>
                    <a:bodyPr/>
                    <a:lstStyle/>
                    <a:p>
                      <a:pPr algn="l"/>
                      <a:r>
                        <a:rPr b="0" sz="937" i="0" u="none">
                          <a:solidFill>
                            <a:srgbClr val="334155"/>
                          </a:solidFill>
                          <a:latin typeface="Plus Jakarta Sans"/>
                        </a:rPr>
                        <a:t>High accuracy of 99.1% on binary threat detection</a:t>
                      </a:r>
                    </a:p>
                  </a:txBody>
                  <a:tcPr anchor="ctr" marL="63500" marR="63500" marT="25400" marB="25400">
                    <a:lnL>
                      <a:noFill/>
                    </a:lnL>
                    <a:lnR>
                      <a:noFill/>
                    </a:lnR>
                    <a:lnT>
                      <a:noFill/>
                    </a:lnT>
                    <a:lnB>
                      <a:noFill/>
                    </a:lnB>
                    <a:solidFill>
                      <a:srgbClr val="FFFFFF"/>
                    </a:solidFill>
                  </a:tcPr>
                </a:tc>
                <a:tc>
                  <a:txBody>
                    <a:bodyPr/>
                    <a:lstStyle/>
                    <a:p>
                      <a:pPr algn="l"/>
                      <a:r>
                        <a:rPr b="0" sz="937" i="0" u="none">
                          <a:solidFill>
                            <a:srgbClr val="334155"/>
                          </a:solidFill>
                          <a:latin typeface="Plus Jakarta Sans"/>
                        </a:rPr>
                        <a:t>No real-time API or deployment architecture provided</a:t>
                      </a:r>
                    </a:p>
                  </a:txBody>
                  <a:tcPr anchor="ctr" marL="63500" marR="63500" marT="25400" marB="25400">
                    <a:lnL>
                      <a:noFill/>
                    </a:lnL>
                    <a:lnR>
                      <a:noFill/>
                    </a:lnR>
                    <a:lnT>
                      <a:noFill/>
                    </a:lnT>
                    <a:lnB>
                      <a:noFill/>
                    </a:lnB>
                    <a:solidFill>
                      <a:srgbClr val="FFFFFF"/>
                    </a:solidFill>
                  </a:tcPr>
                </a:tc>
              </a:tr>
              <a:tr h="470535">
                <a:tc>
                  <a:txBody>
                    <a:bodyPr/>
                    <a:lstStyle/>
                    <a:p>
                      <a:pPr algn="l"/>
                      <a:r>
                        <a:rPr b="0" sz="937" i="0" u="none">
                          <a:solidFill>
                            <a:srgbClr val="334155"/>
                          </a:solidFill>
                          <a:latin typeface="Plus Jakarta Sans"/>
                        </a:rPr>
                        <a:t>2</a:t>
                      </a:r>
                    </a:p>
                  </a:txBody>
                  <a:tcPr anchor="ctr" marL="63500" marR="63500" marT="25400" marB="25400">
                    <a:lnL>
                      <a:noFill/>
                    </a:lnL>
                    <a:lnR>
                      <a:noFill/>
                    </a:lnR>
                    <a:lnT>
                      <a:noFill/>
                    </a:lnT>
                    <a:lnB>
                      <a:noFill/>
                    </a:lnB>
                    <a:solidFill>
                      <a:srgbClr val="F8FAFC"/>
                    </a:solidFill>
                  </a:tcPr>
                </a:tc>
                <a:tc>
                  <a:txBody>
                    <a:bodyPr/>
                    <a:lstStyle/>
                    <a:p>
                      <a:pPr algn="l"/>
                      <a:r>
                        <a:rPr b="1" sz="937" i="0" u="none">
                          <a:solidFill>
                            <a:srgbClr val="334155"/>
                          </a:solidFill>
                          <a:latin typeface="Plus Jakarta Sans"/>
                        </a:rPr>
                        <a:t>Zhang &amp; Patel (2025)</a:t>
                      </a:r>
                    </a:p>
                  </a:txBody>
                  <a:tcPr anchor="ctr" marL="63500" marR="63500" marT="25400" marB="25400">
                    <a:lnL>
                      <a:noFill/>
                    </a:lnL>
                    <a:lnR>
                      <a:noFill/>
                    </a:lnR>
                    <a:lnT>
                      <a:noFill/>
                    </a:lnT>
                    <a:lnB>
                      <a:noFill/>
                    </a:lnB>
                    <a:solidFill>
                      <a:srgbClr val="F8FAFC"/>
                    </a:solidFill>
                  </a:tcPr>
                </a:tc>
                <a:tc>
                  <a:txBody>
                    <a:bodyPr/>
                    <a:lstStyle/>
                    <a:p>
                      <a:pPr algn="l"/>
                      <a:r>
                        <a:rPr b="0" sz="937" i="0" u="none">
                          <a:solidFill>
                            <a:srgbClr val="334155"/>
                          </a:solidFill>
                          <a:latin typeface="Plus Jakarta Sans"/>
                        </a:rPr>
                        <a:t>Deep Autoencoder &amp; PCA Feature Reduction</a:t>
                      </a:r>
                    </a:p>
                  </a:txBody>
                  <a:tcPr anchor="ctr" marL="63500" marR="63500" marT="25400" marB="25400">
                    <a:lnL>
                      <a:noFill/>
                    </a:lnL>
                    <a:lnR>
                      <a:noFill/>
                    </a:lnR>
                    <a:lnT>
                      <a:noFill/>
                    </a:lnT>
                    <a:lnB>
                      <a:noFill/>
                    </a:lnB>
                    <a:solidFill>
                      <a:srgbClr val="F8FAFC"/>
                    </a:solidFill>
                  </a:tcPr>
                </a:tc>
                <a:tc>
                  <a:txBody>
                    <a:bodyPr/>
                    <a:lstStyle/>
                    <a:p>
                      <a:pPr algn="l"/>
                      <a:r>
                        <a:rPr b="0" sz="937" i="0" u="none">
                          <a:solidFill>
                            <a:srgbClr val="334155"/>
                          </a:solidFill>
                          <a:latin typeface="Plus Jakarta Sans"/>
                        </a:rPr>
                        <a:t>99.5% variance preserved; effective anomaly detection</a:t>
                      </a:r>
                    </a:p>
                  </a:txBody>
                  <a:tcPr anchor="ctr" marL="63500" marR="63500" marT="25400" marB="25400">
                    <a:lnL>
                      <a:noFill/>
                    </a:lnL>
                    <a:lnR>
                      <a:noFill/>
                    </a:lnR>
                    <a:lnT>
                      <a:noFill/>
                    </a:lnT>
                    <a:lnB>
                      <a:noFill/>
                    </a:lnB>
                    <a:solidFill>
                      <a:srgbClr val="F8FAFC"/>
                    </a:solidFill>
                  </a:tcPr>
                </a:tc>
                <a:tc>
                  <a:txBody>
                    <a:bodyPr/>
                    <a:lstStyle/>
                    <a:p>
                      <a:pPr algn="l"/>
                      <a:r>
                        <a:rPr b="0" sz="937" i="0" u="none">
                          <a:solidFill>
                            <a:srgbClr val="334155"/>
                          </a:solidFill>
                          <a:latin typeface="Plus Jakarta Sans"/>
                        </a:rPr>
                        <a:t>High computational latency unsuitable for edge inspection</a:t>
                      </a:r>
                    </a:p>
                  </a:txBody>
                  <a:tcPr anchor="ctr" marL="63500" marR="63500" marT="25400" marB="25400">
                    <a:lnL>
                      <a:noFill/>
                    </a:lnL>
                    <a:lnR>
                      <a:noFill/>
                    </a:lnR>
                    <a:lnT>
                      <a:noFill/>
                    </a:lnT>
                    <a:lnB>
                      <a:noFill/>
                    </a:lnB>
                    <a:solidFill>
                      <a:srgbClr val="F8FAFC"/>
                    </a:solidFill>
                  </a:tcPr>
                </a:tc>
              </a:tr>
              <a:tr h="470535">
                <a:tc>
                  <a:txBody>
                    <a:bodyPr/>
                    <a:lstStyle/>
                    <a:p>
                      <a:pPr algn="l"/>
                      <a:r>
                        <a:rPr b="0" sz="937" i="0" u="none">
                          <a:solidFill>
                            <a:srgbClr val="334155"/>
                          </a:solidFill>
                          <a:latin typeface="Plus Jakarta Sans"/>
                        </a:rPr>
                        <a:t>3</a:t>
                      </a:r>
                    </a:p>
                  </a:txBody>
                  <a:tcPr anchor="ctr" marL="63500" marR="63500" marT="25400" marB="25400">
                    <a:lnL>
                      <a:noFill/>
                    </a:lnL>
                    <a:lnR>
                      <a:noFill/>
                    </a:lnR>
                    <a:lnT>
                      <a:noFill/>
                    </a:lnT>
                    <a:lnB>
                      <a:noFill/>
                    </a:lnB>
                    <a:solidFill>
                      <a:srgbClr val="FFFFFF"/>
                    </a:solidFill>
                  </a:tcPr>
                </a:tc>
                <a:tc>
                  <a:txBody>
                    <a:bodyPr/>
                    <a:lstStyle/>
                    <a:p>
                      <a:pPr algn="l"/>
                      <a:r>
                        <a:rPr b="1" sz="937" i="0" u="none">
                          <a:solidFill>
                            <a:srgbClr val="334155"/>
                          </a:solidFill>
                          <a:latin typeface="Plus Jakarta Sans"/>
                        </a:rPr>
                        <a:t>Al-Hawari et al. (2025)</a:t>
                      </a:r>
                    </a:p>
                  </a:txBody>
                  <a:tcPr anchor="ctr" marL="63500" marR="63500" marT="25400" marB="25400">
                    <a:lnL>
                      <a:noFill/>
                    </a:lnL>
                    <a:lnR>
                      <a:noFill/>
                    </a:lnR>
                    <a:lnT>
                      <a:noFill/>
                    </a:lnT>
                    <a:lnB>
                      <a:noFill/>
                    </a:lnB>
                    <a:solidFill>
                      <a:srgbClr val="FFFFFF"/>
                    </a:solidFill>
                  </a:tcPr>
                </a:tc>
                <a:tc>
                  <a:txBody>
                    <a:bodyPr/>
                    <a:lstStyle/>
                    <a:p>
                      <a:pPr algn="l"/>
                      <a:r>
                        <a:rPr b="0" sz="937" i="0" u="none">
                          <a:solidFill>
                            <a:srgbClr val="334155"/>
                          </a:solidFill>
                          <a:latin typeface="Plus Jakarta Sans"/>
                        </a:rPr>
                        <a:t>Multiclass DoS &amp; Probe Classification with SMOTE</a:t>
                      </a:r>
                    </a:p>
                  </a:txBody>
                  <a:tcPr anchor="ctr" marL="63500" marR="63500" marT="25400" marB="25400">
                    <a:lnL>
                      <a:noFill/>
                    </a:lnL>
                    <a:lnR>
                      <a:noFill/>
                    </a:lnR>
                    <a:lnT>
                      <a:noFill/>
                    </a:lnT>
                    <a:lnB>
                      <a:noFill/>
                    </a:lnB>
                    <a:solidFill>
                      <a:srgbClr val="FFFFFF"/>
                    </a:solidFill>
                  </a:tcPr>
                </a:tc>
                <a:tc>
                  <a:txBody>
                    <a:bodyPr/>
                    <a:lstStyle/>
                    <a:p>
                      <a:pPr algn="l"/>
                      <a:r>
                        <a:rPr b="0" sz="937" i="0" u="none">
                          <a:solidFill>
                            <a:srgbClr val="334155"/>
                          </a:solidFill>
                          <a:latin typeface="Plus Jakarta Sans"/>
                        </a:rPr>
                        <a:t>Strong recall on rare attacks (U2R and R2L)</a:t>
                      </a:r>
                    </a:p>
                  </a:txBody>
                  <a:tcPr anchor="ctr" marL="63500" marR="63500" marT="25400" marB="25400">
                    <a:lnL>
                      <a:noFill/>
                    </a:lnL>
                    <a:lnR>
                      <a:noFill/>
                    </a:lnR>
                    <a:lnT>
                      <a:noFill/>
                    </a:lnT>
                    <a:lnB>
                      <a:noFill/>
                    </a:lnB>
                    <a:solidFill>
                      <a:srgbClr val="FFFFFF"/>
                    </a:solidFill>
                  </a:tcPr>
                </a:tc>
                <a:tc>
                  <a:txBody>
                    <a:bodyPr/>
                    <a:lstStyle/>
                    <a:p>
                      <a:pPr algn="l"/>
                      <a:r>
                        <a:rPr b="0" sz="937" i="0" u="none">
                          <a:solidFill>
                            <a:srgbClr val="334155"/>
                          </a:solidFill>
                          <a:latin typeface="Plus Jakarta Sans"/>
                        </a:rPr>
                        <a:t>Evaluated in isolation without live telemetry simulation UI</a:t>
                      </a:r>
                    </a:p>
                  </a:txBody>
                  <a:tcPr anchor="ctr" marL="63500" marR="63500" marT="25400" marB="25400">
                    <a:lnL>
                      <a:noFill/>
                    </a:lnL>
                    <a:lnR>
                      <a:noFill/>
                    </a:lnR>
                    <a:lnT>
                      <a:noFill/>
                    </a:lnT>
                    <a:lnB>
                      <a:noFill/>
                    </a:lnB>
                    <a:solidFill>
                      <a:srgbClr val="FFFFFF"/>
                    </a:solidFill>
                  </a:tcPr>
                </a:tc>
              </a:tr>
              <a:tr h="470535">
                <a:tc>
                  <a:txBody>
                    <a:bodyPr/>
                    <a:lstStyle/>
                    <a:p>
                      <a:pPr algn="l"/>
                      <a:r>
                        <a:rPr b="0" sz="937" i="0" u="none">
                          <a:solidFill>
                            <a:srgbClr val="334155"/>
                          </a:solidFill>
                          <a:latin typeface="Plus Jakarta Sans"/>
                        </a:rPr>
                        <a:t>4</a:t>
                      </a:r>
                    </a:p>
                  </a:txBody>
                  <a:tcPr anchor="ctr" marL="63500" marR="63500" marT="25400" marB="25400">
                    <a:lnL>
                      <a:noFill/>
                    </a:lnL>
                    <a:lnR>
                      <a:noFill/>
                    </a:lnR>
                    <a:lnT>
                      <a:noFill/>
                    </a:lnT>
                    <a:lnB>
                      <a:noFill/>
                    </a:lnB>
                    <a:solidFill>
                      <a:srgbClr val="F8FAFC"/>
                    </a:solidFill>
                  </a:tcPr>
                </a:tc>
                <a:tc>
                  <a:txBody>
                    <a:bodyPr/>
                    <a:lstStyle/>
                    <a:p>
                      <a:pPr algn="l"/>
                      <a:r>
                        <a:rPr b="1" sz="937" i="0" u="none">
                          <a:solidFill>
                            <a:srgbClr val="334155"/>
                          </a:solidFill>
                          <a:latin typeface="Plus Jakarta Sans"/>
                        </a:rPr>
                        <a:t>Sharma &amp; Verma (2024)</a:t>
                      </a:r>
                    </a:p>
                  </a:txBody>
                  <a:tcPr anchor="ctr" marL="63500" marR="63500" marT="25400" marB="25400">
                    <a:lnL>
                      <a:noFill/>
                    </a:lnL>
                    <a:lnR>
                      <a:noFill/>
                    </a:lnR>
                    <a:lnT>
                      <a:noFill/>
                    </a:lnT>
                    <a:lnB>
                      <a:noFill/>
                    </a:lnB>
                    <a:solidFill>
                      <a:srgbClr val="F8FAFC"/>
                    </a:solidFill>
                  </a:tcPr>
                </a:tc>
                <a:tc>
                  <a:txBody>
                    <a:bodyPr/>
                    <a:lstStyle/>
                    <a:p>
                      <a:pPr algn="l"/>
                      <a:r>
                        <a:rPr b="0" sz="937" i="0" u="none">
                          <a:solidFill>
                            <a:srgbClr val="334155"/>
                          </a:solidFill>
                          <a:latin typeface="Plus Jakarta Sans"/>
                        </a:rPr>
                        <a:t>Ensemble Learning &amp; Statistical Feature Selection</a:t>
                      </a:r>
                    </a:p>
                  </a:txBody>
                  <a:tcPr anchor="ctr" marL="63500" marR="63500" marT="25400" marB="25400">
                    <a:lnL>
                      <a:noFill/>
                    </a:lnL>
                    <a:lnR>
                      <a:noFill/>
                    </a:lnR>
                    <a:lnT>
                      <a:noFill/>
                    </a:lnT>
                    <a:lnB>
                      <a:noFill/>
                    </a:lnB>
                    <a:solidFill>
                      <a:srgbClr val="F8FAFC"/>
                    </a:solidFill>
                  </a:tcPr>
                </a:tc>
                <a:tc>
                  <a:txBody>
                    <a:bodyPr/>
                    <a:lstStyle/>
                    <a:p>
                      <a:pPr algn="l"/>
                      <a:r>
                        <a:rPr b="0" sz="937" i="0" u="none">
                          <a:solidFill>
                            <a:srgbClr val="334155"/>
                          </a:solidFill>
                          <a:latin typeface="Plus Jakarta Sans"/>
                        </a:rPr>
                        <a:t>Reduced NSL-KDD features from 41 to 30 with minimal loss</a:t>
                      </a:r>
                    </a:p>
                  </a:txBody>
                  <a:tcPr anchor="ctr" marL="63500" marR="63500" marT="25400" marB="25400">
                    <a:lnL>
                      <a:noFill/>
                    </a:lnL>
                    <a:lnR>
                      <a:noFill/>
                    </a:lnR>
                    <a:lnT>
                      <a:noFill/>
                    </a:lnT>
                    <a:lnB>
                      <a:noFill/>
                    </a:lnB>
                    <a:solidFill>
                      <a:srgbClr val="F8FAFC"/>
                    </a:solidFill>
                  </a:tcPr>
                </a:tc>
                <a:tc>
                  <a:txBody>
                    <a:bodyPr/>
                    <a:lstStyle/>
                    <a:p>
                      <a:pPr algn="l"/>
                      <a:r>
                        <a:rPr b="0" sz="937" i="0" u="none">
                          <a:solidFill>
                            <a:srgbClr val="334155"/>
                          </a:solidFill>
                          <a:latin typeface="Plus Jakarta Sans"/>
                        </a:rPr>
                        <a:t>Did not incorporate statistical data drift tracking</a:t>
                      </a:r>
                    </a:p>
                  </a:txBody>
                  <a:tcPr anchor="ctr" marL="63500" marR="63500" marT="25400" marB="25400">
                    <a:lnL>
                      <a:noFill/>
                    </a:lnL>
                    <a:lnR>
                      <a:noFill/>
                    </a:lnR>
                    <a:lnT>
                      <a:noFill/>
                    </a:lnT>
                    <a:lnB>
                      <a:noFill/>
                    </a:lnB>
                    <a:solidFill>
                      <a:srgbClr val="F8FAFC"/>
                    </a:solidFill>
                  </a:tcPr>
                </a:tc>
              </a:tr>
            </a:tbl>
          </a:graphicData>
        </a:graphic>
      </p:graphicFrame>
      <p:sp>
        <p:nvSpPr>
          <p:cNvPr id="27" name="TextBox 26"/>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28" name="TextBox 27"/>
          <p:cNvSpPr txBox="1"/>
          <p:nvPr/>
        </p:nvSpPr>
        <p:spPr>
          <a:xfrm>
            <a:off x="609600" y="4834830"/>
            <a:ext cx="11068050" cy="142875"/>
          </a:xfrm>
          <a:prstGeom prst="rect">
            <a:avLst/>
          </a:prstGeom>
          <a:noFill/>
        </p:spPr>
        <p:txBody>
          <a:bodyPr wrap="square" lIns="0" rIns="0" tIns="0" bIns="0" anchor="t">
            <a:spAutoFit/>
          </a:bodyPr>
          <a:lstStyle/>
          <a:p>
            <a:pPr algn="l"/>
            <a:r>
              <a:rPr b="1" sz="900" i="0" u="none">
                <a:solidFill>
                  <a:srgbClr val="475569"/>
                </a:solidFill>
                <a:latin typeface="Plus Jakarta Sans"/>
              </a:rPr>
              <a:t>The last column is the most important one:</a:t>
            </a:r>
            <a:r>
              <a:rPr b="0" sz="900" i="0" u="none">
                <a:solidFill>
                  <a:srgbClr val="475569"/>
                </a:solidFill>
                <a:latin typeface="Plus Jakarta Sans"/>
              </a:rPr>
              <a:t> Our project's research gaps are derived directly from the missing real-time serving, drift checks, and UI integrations in existing literature.</a:t>
            </a:r>
          </a:p>
        </p:txBody>
      </p:sp>
      <p:sp>
        <p:nvSpPr>
          <p:cNvPr id="29" name="TextBox 28"/>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30" name="TextBox 29"/>
          <p:cNvSpPr txBox="1"/>
          <p:nvPr/>
        </p:nvSpPr>
        <p:spPr>
          <a:xfrm>
            <a:off x="11372850" y="6562725"/>
            <a:ext cx="647700" cy="142875"/>
          </a:xfrm>
          <a:prstGeom prst="rect">
            <a:avLst/>
          </a:prstGeom>
          <a:noFill/>
        </p:spPr>
        <p:txBody>
          <a:bodyPr wrap="none" lIns="0" rIns="0" tIns="0" bIns="0" anchor="t">
            <a:spAutoFit/>
          </a:bodyPr>
          <a:lstStyle/>
          <a:p>
            <a:pPr algn="l"/>
            <a:r>
              <a:rPr b="1" sz="900" i="0" u="none">
                <a:solidFill>
                  <a:srgbClr val="64748B"/>
                </a:solidFill>
                <a:latin typeface="Plus Jakarta Sans"/>
              </a:rPr>
              <a:t>Slide 5</a:t>
            </a:r>
          </a:p>
        </p:txBody>
      </p:sp>
      <p:sp>
        <p:nvSpPr>
          <p:cNvPr id="31" name="TextBox 30"/>
          <p:cNvSpPr txBox="1"/>
          <p:nvPr/>
        </p:nvSpPr>
        <p:spPr>
          <a:xfrm>
            <a:off x="457200" y="266700"/>
            <a:ext cx="2631281"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3</a:t>
            </a:r>
          </a:p>
        </p:txBody>
      </p:sp>
      <p:sp>
        <p:nvSpPr>
          <p:cNvPr id="32" name="TextBox 31"/>
          <p:cNvSpPr txBox="1"/>
          <p:nvPr/>
        </p:nvSpPr>
        <p:spPr>
          <a:xfrm>
            <a:off x="457200" y="457200"/>
            <a:ext cx="2762845"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Literature Survey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963292"/>
            <a:ext cx="11277600" cy="904875"/>
          </a:xfrm>
          <a:prstGeom prst="roundRect">
            <a:avLst>
              <a:gd name="adj" fmla="val 8421"/>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477392"/>
            <a:ext cx="3657600" cy="1314450"/>
          </a:xfrm>
          <a:prstGeom prst="roundRect">
            <a:avLst>
              <a:gd name="adj" fmla="val 579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267200" y="2477392"/>
            <a:ext cx="3657600" cy="1314450"/>
          </a:xfrm>
          <a:prstGeom prst="roundRect">
            <a:avLst>
              <a:gd name="adj" fmla="val 579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77200" y="2477392"/>
            <a:ext cx="3657600" cy="1314450"/>
          </a:xfrm>
          <a:prstGeom prst="roundRect">
            <a:avLst>
              <a:gd name="adj" fmla="val 579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782317"/>
            <a:ext cx="365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7392"/>
            <a:ext cx="3657600" cy="38100"/>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477392"/>
            <a:ext cx="9525" cy="13144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05275" y="2477392"/>
            <a:ext cx="9525" cy="13144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67200" y="3782317"/>
            <a:ext cx="365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67200" y="2477392"/>
            <a:ext cx="3657600" cy="38100"/>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67200" y="2477392"/>
            <a:ext cx="9525" cy="13144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15275" y="2477392"/>
            <a:ext cx="9525" cy="13144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77200" y="3782317"/>
            <a:ext cx="365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7200" y="2477392"/>
            <a:ext cx="3657600" cy="38100"/>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7200" y="2477392"/>
            <a:ext cx="9525" cy="13144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725275" y="2477392"/>
            <a:ext cx="9525" cy="13144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21" name="TextBox 20"/>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22" name="TextBox 21"/>
          <p:cNvSpPr txBox="1"/>
          <p:nvPr/>
        </p:nvSpPr>
        <p:spPr>
          <a:xfrm>
            <a:off x="11372850" y="6562725"/>
            <a:ext cx="647700" cy="142875"/>
          </a:xfrm>
          <a:prstGeom prst="rect">
            <a:avLst/>
          </a:prstGeom>
          <a:noFill/>
        </p:spPr>
        <p:txBody>
          <a:bodyPr wrap="none" lIns="0" rIns="0" tIns="0" bIns="0" anchor="t">
            <a:spAutoFit/>
          </a:bodyPr>
          <a:lstStyle/>
          <a:p>
            <a:pPr algn="l"/>
            <a:r>
              <a:rPr b="1" sz="900" i="0" u="none">
                <a:solidFill>
                  <a:srgbClr val="64748B"/>
                </a:solidFill>
                <a:latin typeface="Plus Jakarta Sans"/>
              </a:rPr>
              <a:t>Slide 6</a:t>
            </a:r>
          </a:p>
        </p:txBody>
      </p:sp>
      <p:sp>
        <p:nvSpPr>
          <p:cNvPr id="23" name="TextBox 22"/>
          <p:cNvSpPr txBox="1"/>
          <p:nvPr/>
        </p:nvSpPr>
        <p:spPr>
          <a:xfrm>
            <a:off x="457200" y="266700"/>
            <a:ext cx="3667125"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4</a:t>
            </a:r>
          </a:p>
        </p:txBody>
      </p:sp>
      <p:sp>
        <p:nvSpPr>
          <p:cNvPr id="24" name="TextBox 23"/>
          <p:cNvSpPr txBox="1"/>
          <p:nvPr/>
        </p:nvSpPr>
        <p:spPr>
          <a:xfrm>
            <a:off x="457200" y="457200"/>
            <a:ext cx="3850481"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Research Gap Identified</a:t>
            </a:r>
          </a:p>
        </p:txBody>
      </p:sp>
      <p:sp>
        <p:nvSpPr>
          <p:cNvPr id="25" name="TextBox 24"/>
          <p:cNvSpPr txBox="1"/>
          <p:nvPr/>
        </p:nvSpPr>
        <p:spPr>
          <a:xfrm>
            <a:off x="657225" y="4125217"/>
            <a:ext cx="11534775" cy="171450"/>
          </a:xfrm>
          <a:prstGeom prst="rect">
            <a:avLst/>
          </a:prstGeom>
          <a:noFill/>
        </p:spPr>
        <p:txBody>
          <a:bodyPr wrap="none" lIns="0" rIns="0" tIns="0" bIns="0" anchor="t">
            <a:spAutoFit/>
          </a:bodyPr>
          <a:lstStyle/>
          <a:p>
            <a:pPr algn="l"/>
            <a:r>
              <a:rPr b="1" sz="1050" i="0" u="none">
                <a:solidFill>
                  <a:srgbClr val="166534"/>
                </a:solidFill>
                <a:latin typeface="Plus Jakarta Sans"/>
              </a:rPr>
              <a:t>OUR PROJECT ADDRESSES</a:t>
            </a:r>
          </a:p>
        </p:txBody>
      </p:sp>
      <p:sp>
        <p:nvSpPr>
          <p:cNvPr id="26" name="TextBox 25"/>
          <p:cNvSpPr txBox="1"/>
          <p:nvPr/>
        </p:nvSpPr>
        <p:spPr>
          <a:xfrm>
            <a:off x="657225" y="4334767"/>
            <a:ext cx="10972800" cy="371475"/>
          </a:xfrm>
          <a:prstGeom prst="rect">
            <a:avLst/>
          </a:prstGeom>
          <a:noFill/>
        </p:spPr>
        <p:txBody>
          <a:bodyPr wrap="square" lIns="0" rIns="0" tIns="0" bIns="0" anchor="t">
            <a:spAutoFit/>
          </a:bodyPr>
          <a:lstStyle/>
          <a:p>
            <a:pPr algn="l">
              <a:lnSpc>
                <a:spcPts val="1462"/>
              </a:lnSpc>
            </a:pPr>
            <a:r>
              <a:rPr b="0" sz="975" i="0" u="none">
                <a:solidFill>
                  <a:srgbClr val="14532D"/>
                </a:solidFill>
                <a:latin typeface="Plus Jakarta Sans"/>
              </a:rPr>
              <a:t>CyberGuard-IDS establishes a unified, production-ready framework combining dual-tier classification, automated schema normalization, live FastAPI microservice serving, automated data-drift checks, and an interactive analyst dashboard.</a:t>
            </a:r>
          </a:p>
        </p:txBody>
      </p:sp>
      <p:sp>
        <p:nvSpPr>
          <p:cNvPr id="27" name="TextBox 26"/>
          <p:cNvSpPr txBox="1"/>
          <p:nvPr/>
        </p:nvSpPr>
        <p:spPr>
          <a:xfrm>
            <a:off x="657225" y="2686942"/>
            <a:ext cx="4071937" cy="152400"/>
          </a:xfrm>
          <a:prstGeom prst="rect">
            <a:avLst/>
          </a:prstGeom>
          <a:noFill/>
        </p:spPr>
        <p:txBody>
          <a:bodyPr wrap="none" lIns="0" rIns="0" tIns="0" bIns="0" anchor="t">
            <a:spAutoFit/>
          </a:bodyPr>
          <a:lstStyle/>
          <a:p>
            <a:pPr algn="l"/>
            <a:r>
              <a:rPr b="1" sz="975" i="0" u="none">
                <a:solidFill>
                  <a:srgbClr val="8B1E23"/>
                </a:solidFill>
                <a:latin typeface="Plus Jakarta Sans"/>
              </a:rPr>
              <a:t>GAP 1 • DEPLOYMENT</a:t>
            </a:r>
          </a:p>
        </p:txBody>
      </p:sp>
      <p:sp>
        <p:nvSpPr>
          <p:cNvPr id="28" name="TextBox 27"/>
          <p:cNvSpPr txBox="1"/>
          <p:nvPr/>
        </p:nvSpPr>
        <p:spPr>
          <a:xfrm>
            <a:off x="657225" y="2896492"/>
            <a:ext cx="3352800" cy="714375"/>
          </a:xfrm>
          <a:prstGeom prst="rect">
            <a:avLst/>
          </a:prstGeom>
          <a:noFill/>
        </p:spPr>
        <p:txBody>
          <a:bodyPr wrap="square" lIns="0" rIns="0" tIns="0" bIns="0" anchor="t">
            <a:spAutoFit/>
          </a:bodyPr>
          <a:lstStyle/>
          <a:p>
            <a:pPr algn="l">
              <a:lnSpc>
                <a:spcPts val="1406"/>
              </a:lnSpc>
            </a:pPr>
            <a:r>
              <a:rPr b="0" sz="937" i="0" u="none">
                <a:solidFill>
                  <a:srgbClr val="334155"/>
                </a:solidFill>
                <a:latin typeface="Plus Jakarta Sans"/>
              </a:rPr>
              <a:t>Existing research focuses heavily on offline Jupyter benchmarks without developing production REST endpoints (FastAPI) capable of handling live telemetry streams.</a:t>
            </a:r>
          </a:p>
        </p:txBody>
      </p:sp>
      <p:sp>
        <p:nvSpPr>
          <p:cNvPr id="29" name="TextBox 28"/>
          <p:cNvSpPr txBox="1"/>
          <p:nvPr/>
        </p:nvSpPr>
        <p:spPr>
          <a:xfrm>
            <a:off x="4467225" y="2686942"/>
            <a:ext cx="4071937" cy="152400"/>
          </a:xfrm>
          <a:prstGeom prst="rect">
            <a:avLst/>
          </a:prstGeom>
          <a:noFill/>
        </p:spPr>
        <p:txBody>
          <a:bodyPr wrap="none" lIns="0" rIns="0" tIns="0" bIns="0" anchor="t">
            <a:spAutoFit/>
          </a:bodyPr>
          <a:lstStyle/>
          <a:p>
            <a:pPr algn="l"/>
            <a:r>
              <a:rPr b="1" sz="975" i="0" u="none">
                <a:solidFill>
                  <a:srgbClr val="8B1E23"/>
                </a:solidFill>
                <a:latin typeface="Plus Jakarta Sans"/>
              </a:rPr>
              <a:t>GAP 2 • DRIFT MONITORING</a:t>
            </a:r>
          </a:p>
        </p:txBody>
      </p:sp>
      <p:sp>
        <p:nvSpPr>
          <p:cNvPr id="30" name="TextBox 29"/>
          <p:cNvSpPr txBox="1"/>
          <p:nvPr/>
        </p:nvSpPr>
        <p:spPr>
          <a:xfrm>
            <a:off x="4467225" y="2896492"/>
            <a:ext cx="3352800" cy="714375"/>
          </a:xfrm>
          <a:prstGeom prst="rect">
            <a:avLst/>
          </a:prstGeom>
          <a:noFill/>
        </p:spPr>
        <p:txBody>
          <a:bodyPr wrap="square" lIns="0" rIns="0" tIns="0" bIns="0" anchor="t">
            <a:spAutoFit/>
          </a:bodyPr>
          <a:lstStyle/>
          <a:p>
            <a:pPr algn="l">
              <a:lnSpc>
                <a:spcPts val="1406"/>
              </a:lnSpc>
            </a:pPr>
            <a:r>
              <a:rPr b="0" sz="937" i="0" u="none">
                <a:solidFill>
                  <a:srgbClr val="334155"/>
                </a:solidFill>
                <a:latin typeface="Plus Jakarta Sans"/>
              </a:rPr>
              <a:t>Prior models degrade when network patterns evolve. Existing implementations lack statistical Kolmogorov-Smirnov distribution tests to detect post-deployment feature drift.</a:t>
            </a:r>
          </a:p>
        </p:txBody>
      </p:sp>
      <p:sp>
        <p:nvSpPr>
          <p:cNvPr id="31" name="TextBox 30"/>
          <p:cNvSpPr txBox="1"/>
          <p:nvPr/>
        </p:nvSpPr>
        <p:spPr>
          <a:xfrm>
            <a:off x="8277225" y="2686942"/>
            <a:ext cx="3914775" cy="152400"/>
          </a:xfrm>
          <a:prstGeom prst="rect">
            <a:avLst/>
          </a:prstGeom>
          <a:noFill/>
        </p:spPr>
        <p:txBody>
          <a:bodyPr wrap="none" lIns="0" rIns="0" tIns="0" bIns="0" anchor="t">
            <a:spAutoFit/>
          </a:bodyPr>
          <a:lstStyle/>
          <a:p>
            <a:pPr algn="l"/>
            <a:r>
              <a:rPr b="1" sz="975" i="0" u="none">
                <a:solidFill>
                  <a:srgbClr val="8B1E23"/>
                </a:solidFill>
                <a:latin typeface="Plus Jakarta Sans"/>
              </a:rPr>
              <a:t>GAP 3 • ACTIONABLE INSIGHT</a:t>
            </a:r>
          </a:p>
        </p:txBody>
      </p:sp>
      <p:sp>
        <p:nvSpPr>
          <p:cNvPr id="32" name="TextBox 31"/>
          <p:cNvSpPr txBox="1"/>
          <p:nvPr/>
        </p:nvSpPr>
        <p:spPr>
          <a:xfrm>
            <a:off x="8277225" y="2896492"/>
            <a:ext cx="3352800" cy="535781"/>
          </a:xfrm>
          <a:prstGeom prst="rect">
            <a:avLst/>
          </a:prstGeom>
          <a:noFill/>
        </p:spPr>
        <p:txBody>
          <a:bodyPr wrap="square" lIns="0" rIns="0" tIns="0" bIns="0" anchor="t">
            <a:spAutoFit/>
          </a:bodyPr>
          <a:lstStyle/>
          <a:p>
            <a:pPr algn="l">
              <a:lnSpc>
                <a:spcPts val="1406"/>
              </a:lnSpc>
            </a:pPr>
            <a:r>
              <a:rPr b="0" sz="937" i="0" u="none">
                <a:solidFill>
                  <a:srgbClr val="334155"/>
                </a:solidFill>
                <a:latin typeface="Plus Jakarta Sans"/>
              </a:rPr>
              <a:t>Binary classifiers only signal "Attack" without categorizing the intrusion vector (DoS vs Probe vs R2L vs U2R), limiting proactive incident response in SOC environments.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215455"/>
            <a:ext cx="11277600" cy="628650"/>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977455"/>
            <a:ext cx="11277600" cy="628650"/>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3739455"/>
            <a:ext cx="11277600" cy="628650"/>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4501455"/>
            <a:ext cx="11277600" cy="628650"/>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7225" y="2358330"/>
            <a:ext cx="342900" cy="342900"/>
          </a:xfrm>
          <a:prstGeom prst="roundRect">
            <a:avLst>
              <a:gd name="adj" fmla="val 50000"/>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7225" y="3120330"/>
            <a:ext cx="342900" cy="342900"/>
          </a:xfrm>
          <a:prstGeom prst="roundRect">
            <a:avLst>
              <a:gd name="adj" fmla="val 50000"/>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7225" y="3882330"/>
            <a:ext cx="342900" cy="342900"/>
          </a:xfrm>
          <a:prstGeom prst="roundRect">
            <a:avLst>
              <a:gd name="adj" fmla="val 50000"/>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7225" y="4644330"/>
            <a:ext cx="342900" cy="342900"/>
          </a:xfrm>
          <a:prstGeom prst="roundRect">
            <a:avLst>
              <a:gd name="adj" fmla="val 50000"/>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13" name="TextBox 12"/>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14" name="TextBox 13"/>
          <p:cNvSpPr txBox="1"/>
          <p:nvPr/>
        </p:nvSpPr>
        <p:spPr>
          <a:xfrm>
            <a:off x="11372850" y="6562725"/>
            <a:ext cx="647700" cy="142875"/>
          </a:xfrm>
          <a:prstGeom prst="rect">
            <a:avLst/>
          </a:prstGeom>
          <a:noFill/>
        </p:spPr>
        <p:txBody>
          <a:bodyPr wrap="none" lIns="0" rIns="0" tIns="0" bIns="0" anchor="t">
            <a:spAutoFit/>
          </a:bodyPr>
          <a:lstStyle/>
          <a:p>
            <a:pPr algn="l"/>
            <a:r>
              <a:rPr b="1" sz="900" i="0" u="none">
                <a:solidFill>
                  <a:srgbClr val="64748B"/>
                </a:solidFill>
                <a:latin typeface="Plus Jakarta Sans"/>
              </a:rPr>
              <a:t>Slide 7</a:t>
            </a:r>
          </a:p>
        </p:txBody>
      </p:sp>
      <p:sp>
        <p:nvSpPr>
          <p:cNvPr id="15" name="TextBox 14"/>
          <p:cNvSpPr txBox="1"/>
          <p:nvPr/>
        </p:nvSpPr>
        <p:spPr>
          <a:xfrm>
            <a:off x="457200" y="266700"/>
            <a:ext cx="3833812"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5</a:t>
            </a:r>
          </a:p>
        </p:txBody>
      </p:sp>
      <p:sp>
        <p:nvSpPr>
          <p:cNvPr id="16" name="TextBox 15"/>
          <p:cNvSpPr txBox="1"/>
          <p:nvPr/>
        </p:nvSpPr>
        <p:spPr>
          <a:xfrm>
            <a:off x="457200" y="457200"/>
            <a:ext cx="4025503"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Objectives of the Project</a:t>
            </a:r>
          </a:p>
        </p:txBody>
      </p:sp>
      <p:sp>
        <p:nvSpPr>
          <p:cNvPr id="17" name="TextBox 16"/>
          <p:cNvSpPr txBox="1"/>
          <p:nvPr/>
        </p:nvSpPr>
        <p:spPr>
          <a:xfrm>
            <a:off x="514350" y="2358330"/>
            <a:ext cx="628650" cy="342900"/>
          </a:xfrm>
          <a:prstGeom prst="rect">
            <a:avLst/>
          </a:prstGeom>
          <a:noFill/>
        </p:spPr>
        <p:txBody>
          <a:bodyPr wrap="square" lIns="0" rIns="0" tIns="0" bIns="0" anchor="ctr">
            <a:spAutoFit/>
          </a:bodyPr>
          <a:lstStyle/>
          <a:p>
            <a:pPr algn="ctr"/>
            <a:r>
              <a:rPr b="1" sz="1200" i="0" u="none">
                <a:solidFill>
                  <a:srgbClr val="FFFFFF"/>
                </a:solidFill>
                <a:latin typeface="Plus Jakarta Sans"/>
              </a:rPr>
              <a:t>1</a:t>
            </a:r>
          </a:p>
        </p:txBody>
      </p:sp>
      <p:sp>
        <p:nvSpPr>
          <p:cNvPr id="18" name="TextBox 17"/>
          <p:cNvSpPr txBox="1"/>
          <p:nvPr/>
        </p:nvSpPr>
        <p:spPr>
          <a:xfrm>
            <a:off x="514350" y="3120330"/>
            <a:ext cx="628650" cy="342900"/>
          </a:xfrm>
          <a:prstGeom prst="rect">
            <a:avLst/>
          </a:prstGeom>
          <a:noFill/>
        </p:spPr>
        <p:txBody>
          <a:bodyPr wrap="square" lIns="0" rIns="0" tIns="0" bIns="0" anchor="ctr">
            <a:spAutoFit/>
          </a:bodyPr>
          <a:lstStyle/>
          <a:p>
            <a:pPr algn="ctr"/>
            <a:r>
              <a:rPr b="1" sz="1200" i="0" u="none">
                <a:solidFill>
                  <a:srgbClr val="FFFFFF"/>
                </a:solidFill>
                <a:latin typeface="Plus Jakarta Sans"/>
              </a:rPr>
              <a:t>2</a:t>
            </a:r>
          </a:p>
        </p:txBody>
      </p:sp>
      <p:sp>
        <p:nvSpPr>
          <p:cNvPr id="19" name="TextBox 18"/>
          <p:cNvSpPr txBox="1"/>
          <p:nvPr/>
        </p:nvSpPr>
        <p:spPr>
          <a:xfrm>
            <a:off x="514350" y="3882330"/>
            <a:ext cx="628650" cy="342900"/>
          </a:xfrm>
          <a:prstGeom prst="rect">
            <a:avLst/>
          </a:prstGeom>
          <a:noFill/>
        </p:spPr>
        <p:txBody>
          <a:bodyPr wrap="square" lIns="0" rIns="0" tIns="0" bIns="0" anchor="ctr">
            <a:spAutoFit/>
          </a:bodyPr>
          <a:lstStyle/>
          <a:p>
            <a:pPr algn="ctr"/>
            <a:r>
              <a:rPr b="1" sz="1200" i="0" u="none">
                <a:solidFill>
                  <a:srgbClr val="FFFFFF"/>
                </a:solidFill>
                <a:latin typeface="Plus Jakarta Sans"/>
              </a:rPr>
              <a:t>3</a:t>
            </a:r>
          </a:p>
        </p:txBody>
      </p:sp>
      <p:sp>
        <p:nvSpPr>
          <p:cNvPr id="20" name="TextBox 19"/>
          <p:cNvSpPr txBox="1"/>
          <p:nvPr/>
        </p:nvSpPr>
        <p:spPr>
          <a:xfrm>
            <a:off x="514350" y="4644330"/>
            <a:ext cx="628650" cy="342900"/>
          </a:xfrm>
          <a:prstGeom prst="rect">
            <a:avLst/>
          </a:prstGeom>
          <a:noFill/>
        </p:spPr>
        <p:txBody>
          <a:bodyPr wrap="square" lIns="0" rIns="0" tIns="0" bIns="0" anchor="ctr">
            <a:spAutoFit/>
          </a:bodyPr>
          <a:lstStyle/>
          <a:p>
            <a:pPr algn="ctr"/>
            <a:r>
              <a:rPr b="1" sz="1200" i="0" u="none">
                <a:solidFill>
                  <a:srgbClr val="FFFFFF"/>
                </a:solidFill>
                <a:latin typeface="Plus Jakarta Sans"/>
              </a:rPr>
              <a:t>4</a:t>
            </a:r>
          </a:p>
        </p:txBody>
      </p:sp>
      <p:sp>
        <p:nvSpPr>
          <p:cNvPr id="21" name="TextBox 20"/>
          <p:cNvSpPr txBox="1"/>
          <p:nvPr/>
        </p:nvSpPr>
        <p:spPr>
          <a:xfrm>
            <a:off x="1190625" y="2367855"/>
            <a:ext cx="11001375" cy="171450"/>
          </a:xfrm>
          <a:prstGeom prst="rect">
            <a:avLst/>
          </a:prstGeom>
          <a:noFill/>
        </p:spPr>
        <p:txBody>
          <a:bodyPr wrap="none" lIns="0" rIns="0" tIns="0" bIns="0" anchor="t">
            <a:spAutoFit/>
          </a:bodyPr>
          <a:lstStyle/>
          <a:p>
            <a:pPr algn="l"/>
            <a:r>
              <a:rPr b="1" sz="1050" i="0" u="none">
                <a:solidFill>
                  <a:srgbClr val="0F172A"/>
                </a:solidFill>
                <a:latin typeface="Plus Jakarta Sans"/>
              </a:rPr>
              <a:t>Preprocess &amp; Transform NSL-KDD Network Telemetry</a:t>
            </a:r>
          </a:p>
        </p:txBody>
      </p:sp>
      <p:sp>
        <p:nvSpPr>
          <p:cNvPr id="22" name="TextBox 21"/>
          <p:cNvSpPr txBox="1"/>
          <p:nvPr/>
        </p:nvSpPr>
        <p:spPr>
          <a:xfrm>
            <a:off x="1190625" y="2539305"/>
            <a:ext cx="11001375" cy="152400"/>
          </a:xfrm>
          <a:prstGeom prst="rect">
            <a:avLst/>
          </a:prstGeom>
          <a:noFill/>
        </p:spPr>
        <p:txBody>
          <a:bodyPr wrap="none" lIns="0" rIns="0" tIns="0" bIns="0" anchor="t">
            <a:spAutoFit/>
          </a:bodyPr>
          <a:lstStyle/>
          <a:p>
            <a:pPr algn="l"/>
            <a:r>
              <a:rPr b="0" sz="937" i="0" u="none">
                <a:solidFill>
                  <a:srgbClr val="64748B"/>
                </a:solidFill>
                <a:latin typeface="Plus Jakarta Sans"/>
              </a:rPr>
              <a:t>Process 148,517 records, encode categorical protocols/services/flags, and normalize continuous metrics.</a:t>
            </a:r>
          </a:p>
        </p:txBody>
      </p:sp>
      <p:sp>
        <p:nvSpPr>
          <p:cNvPr id="23" name="TextBox 22"/>
          <p:cNvSpPr txBox="1"/>
          <p:nvPr/>
        </p:nvSpPr>
        <p:spPr>
          <a:xfrm>
            <a:off x="1190625" y="3129855"/>
            <a:ext cx="11001375" cy="171450"/>
          </a:xfrm>
          <a:prstGeom prst="rect">
            <a:avLst/>
          </a:prstGeom>
          <a:noFill/>
        </p:spPr>
        <p:txBody>
          <a:bodyPr wrap="none" lIns="0" rIns="0" tIns="0" bIns="0" anchor="t">
            <a:spAutoFit/>
          </a:bodyPr>
          <a:lstStyle/>
          <a:p>
            <a:pPr algn="l"/>
            <a:r>
              <a:rPr b="1" sz="1050" i="0" u="none">
                <a:solidFill>
                  <a:srgbClr val="0F172A"/>
                </a:solidFill>
                <a:latin typeface="Plus Jakarta Sans"/>
              </a:rPr>
              <a:t>Develop Dual-Tier Machine Learning Ensembles</a:t>
            </a:r>
          </a:p>
        </p:txBody>
      </p:sp>
      <p:sp>
        <p:nvSpPr>
          <p:cNvPr id="24" name="TextBox 23"/>
          <p:cNvSpPr txBox="1"/>
          <p:nvPr/>
        </p:nvSpPr>
        <p:spPr>
          <a:xfrm>
            <a:off x="1190625" y="3301305"/>
            <a:ext cx="11001375" cy="152400"/>
          </a:xfrm>
          <a:prstGeom prst="rect">
            <a:avLst/>
          </a:prstGeom>
          <a:noFill/>
        </p:spPr>
        <p:txBody>
          <a:bodyPr wrap="none" lIns="0" rIns="0" tIns="0" bIns="0" anchor="t">
            <a:spAutoFit/>
          </a:bodyPr>
          <a:lstStyle/>
          <a:p>
            <a:pPr algn="l"/>
            <a:r>
              <a:rPr b="0" sz="937" i="0" u="none">
                <a:solidFill>
                  <a:srgbClr val="64748B"/>
                </a:solidFill>
                <a:latin typeface="Plus Jakarta Sans"/>
              </a:rPr>
              <a:t>Train and optimize Random Forest and XGBoost for binary (Normal vs Attack) and multiclass (DoS, Probe, R2L, U2R) tasks.</a:t>
            </a:r>
          </a:p>
        </p:txBody>
      </p:sp>
      <p:sp>
        <p:nvSpPr>
          <p:cNvPr id="25" name="TextBox 24"/>
          <p:cNvSpPr txBox="1"/>
          <p:nvPr/>
        </p:nvSpPr>
        <p:spPr>
          <a:xfrm>
            <a:off x="1190625" y="3891855"/>
            <a:ext cx="11001375" cy="171450"/>
          </a:xfrm>
          <a:prstGeom prst="rect">
            <a:avLst/>
          </a:prstGeom>
          <a:noFill/>
        </p:spPr>
        <p:txBody>
          <a:bodyPr wrap="none" lIns="0" rIns="0" tIns="0" bIns="0" anchor="t">
            <a:spAutoFit/>
          </a:bodyPr>
          <a:lstStyle/>
          <a:p>
            <a:pPr algn="l"/>
            <a:r>
              <a:rPr b="1" sz="1050" i="0" u="none">
                <a:solidFill>
                  <a:srgbClr val="0F172A"/>
                </a:solidFill>
                <a:latin typeface="Plus Jakarta Sans"/>
              </a:rPr>
              <a:t>Implement High-Throughput REST Microservice Serving</a:t>
            </a:r>
          </a:p>
        </p:txBody>
      </p:sp>
      <p:sp>
        <p:nvSpPr>
          <p:cNvPr id="26" name="TextBox 25"/>
          <p:cNvSpPr txBox="1"/>
          <p:nvPr/>
        </p:nvSpPr>
        <p:spPr>
          <a:xfrm>
            <a:off x="1190625" y="4063305"/>
            <a:ext cx="11001375" cy="152400"/>
          </a:xfrm>
          <a:prstGeom prst="rect">
            <a:avLst/>
          </a:prstGeom>
          <a:noFill/>
        </p:spPr>
        <p:txBody>
          <a:bodyPr wrap="none" lIns="0" rIns="0" tIns="0" bIns="0" anchor="t">
            <a:spAutoFit/>
          </a:bodyPr>
          <a:lstStyle/>
          <a:p>
            <a:pPr algn="l"/>
            <a:r>
              <a:rPr b="0" sz="937" i="0" u="none">
                <a:solidFill>
                  <a:srgbClr val="64748B"/>
                </a:solidFill>
                <a:latin typeface="Plus Jakarta Sans"/>
              </a:rPr>
              <a:t>Deploy a container-ready FastAPI backend serving </a:t>
            </a:r>
            <a:r>
              <a:rPr b="0" sz="937" i="0" u="none">
                <a:solidFill>
                  <a:srgbClr val="64748B"/>
                </a:solidFill>
                <a:latin typeface="Plus Jakarta Sans"/>
              </a:rPr>
              <a:t>/predict</a:t>
            </a:r>
            <a:r>
              <a:rPr b="0" sz="937" i="0" u="none">
                <a:solidFill>
                  <a:srgbClr val="64748B"/>
                </a:solidFill>
                <a:latin typeface="Plus Jakarta Sans"/>
              </a:rPr>
              <a:t>, </a:t>
            </a:r>
            <a:r>
              <a:rPr b="0" sz="937" i="0" u="none">
                <a:solidFill>
                  <a:srgbClr val="64748B"/>
                </a:solidFill>
                <a:latin typeface="Plus Jakarta Sans"/>
              </a:rPr>
              <a:t>/batch</a:t>
            </a:r>
            <a:r>
              <a:rPr b="0" sz="937" i="0" u="none">
                <a:solidFill>
                  <a:srgbClr val="64748B"/>
                </a:solidFill>
                <a:latin typeface="Plus Jakarta Sans"/>
              </a:rPr>
              <a:t>, and </a:t>
            </a:r>
            <a:r>
              <a:rPr b="0" sz="937" i="0" u="none">
                <a:solidFill>
                  <a:srgbClr val="64748B"/>
                </a:solidFill>
                <a:latin typeface="Plus Jakarta Sans"/>
              </a:rPr>
              <a:t>/drift-check</a:t>
            </a:r>
            <a:r>
              <a:rPr b="0" sz="937" i="0" u="none">
                <a:solidFill>
                  <a:srgbClr val="64748B"/>
                </a:solidFill>
                <a:latin typeface="Plus Jakarta Sans"/>
              </a:rPr>
              <a:t> endpoints.</a:t>
            </a:r>
          </a:p>
        </p:txBody>
      </p:sp>
      <p:sp>
        <p:nvSpPr>
          <p:cNvPr id="27" name="TextBox 26"/>
          <p:cNvSpPr txBox="1"/>
          <p:nvPr/>
        </p:nvSpPr>
        <p:spPr>
          <a:xfrm>
            <a:off x="1190625" y="4653855"/>
            <a:ext cx="11001375" cy="171450"/>
          </a:xfrm>
          <a:prstGeom prst="rect">
            <a:avLst/>
          </a:prstGeom>
          <a:noFill/>
        </p:spPr>
        <p:txBody>
          <a:bodyPr wrap="none" lIns="0" rIns="0" tIns="0" bIns="0" anchor="t">
            <a:spAutoFit/>
          </a:bodyPr>
          <a:lstStyle/>
          <a:p>
            <a:pPr algn="l"/>
            <a:r>
              <a:rPr b="1" sz="1050" i="0" u="none">
                <a:solidFill>
                  <a:srgbClr val="0F172A"/>
                </a:solidFill>
                <a:latin typeface="Plus Jakarta Sans"/>
              </a:rPr>
              <a:t>Deploy Interactive SOC Analyst Dashboard</a:t>
            </a:r>
          </a:p>
        </p:txBody>
      </p:sp>
      <p:sp>
        <p:nvSpPr>
          <p:cNvPr id="28" name="TextBox 27"/>
          <p:cNvSpPr txBox="1"/>
          <p:nvPr/>
        </p:nvSpPr>
        <p:spPr>
          <a:xfrm>
            <a:off x="1190625" y="4825305"/>
            <a:ext cx="11001375" cy="152400"/>
          </a:xfrm>
          <a:prstGeom prst="rect">
            <a:avLst/>
          </a:prstGeom>
          <a:noFill/>
        </p:spPr>
        <p:txBody>
          <a:bodyPr wrap="none" lIns="0" rIns="0" tIns="0" bIns="0" anchor="t">
            <a:spAutoFit/>
          </a:bodyPr>
          <a:lstStyle/>
          <a:p>
            <a:pPr algn="l"/>
            <a:r>
              <a:rPr b="0" sz="937" i="0" u="none">
                <a:solidFill>
                  <a:srgbClr val="64748B"/>
                </a:solidFill>
                <a:latin typeface="Plus Jakarta Sans"/>
              </a:rPr>
              <a:t>Construct a responsive Streamlit UI for real-time packet parameter simulation, alert verification, and threat confidence display.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44280"/>
            <a:ext cx="11277600" cy="33337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4244280"/>
            <a:ext cx="38100" cy="333375"/>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2767905"/>
            <a:ext cx="1966019" cy="1247775"/>
          </a:xfrm>
          <a:prstGeom prst="roundRect">
            <a:avLst>
              <a:gd name="adj" fmla="val 610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785169" y="2767905"/>
            <a:ext cx="1966019" cy="1247775"/>
          </a:xfrm>
          <a:prstGeom prst="roundRect">
            <a:avLst>
              <a:gd name="adj" fmla="val 610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13139" y="2767905"/>
            <a:ext cx="1966019" cy="1247775"/>
          </a:xfrm>
          <a:prstGeom prst="roundRect">
            <a:avLst>
              <a:gd name="adj" fmla="val 610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41108" y="2767905"/>
            <a:ext cx="1966019" cy="1247775"/>
          </a:xfrm>
          <a:prstGeom prst="roundRect">
            <a:avLst>
              <a:gd name="adj" fmla="val 610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69078" y="2767905"/>
            <a:ext cx="1966019" cy="1247775"/>
          </a:xfrm>
          <a:prstGeom prst="roundRect">
            <a:avLst>
              <a:gd name="adj" fmla="val 610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006155"/>
            <a:ext cx="19660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767905"/>
            <a:ext cx="1966019"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13694"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85169" y="4006155"/>
            <a:ext cx="19660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85169" y="2767905"/>
            <a:ext cx="1966019" cy="381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5169"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41664"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3139" y="4006155"/>
            <a:ext cx="19660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3139" y="2767905"/>
            <a:ext cx="1966019" cy="38100"/>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13139"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69633"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41108" y="4006155"/>
            <a:ext cx="19660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41108" y="2767905"/>
            <a:ext cx="1966019" cy="381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41108"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397603"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69078" y="4006155"/>
            <a:ext cx="19660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69078" y="2767905"/>
            <a:ext cx="1966019" cy="38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69078"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725572" y="2767905"/>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2"/>
          <a:stretch>
            <a:fillRect/>
          </a:stretch>
        </p:blipFill>
        <p:spPr>
          <a:xfrm>
            <a:off x="2537519" y="3315592"/>
            <a:ext cx="133350" cy="152400"/>
          </a:xfrm>
          <a:prstGeom prst="rect">
            <a:avLst/>
          </a:prstGeom>
        </p:spPr>
      </p:pic>
      <p:pic>
        <p:nvPicPr>
          <p:cNvPr id="32" name="Picture 31" descr="image.png"/>
          <p:cNvPicPr>
            <a:picLocks noChangeAspect="1"/>
          </p:cNvPicPr>
          <p:nvPr/>
        </p:nvPicPr>
        <p:blipFill>
          <a:blip r:embed="rId3"/>
          <a:stretch>
            <a:fillRect/>
          </a:stretch>
        </p:blipFill>
        <p:spPr>
          <a:xfrm>
            <a:off x="4865489" y="3315592"/>
            <a:ext cx="133350" cy="152400"/>
          </a:xfrm>
          <a:prstGeom prst="rect">
            <a:avLst/>
          </a:prstGeom>
        </p:spPr>
      </p:pic>
      <p:pic>
        <p:nvPicPr>
          <p:cNvPr id="33" name="Picture 32" descr="image.png"/>
          <p:cNvPicPr>
            <a:picLocks noChangeAspect="1"/>
          </p:cNvPicPr>
          <p:nvPr/>
        </p:nvPicPr>
        <p:blipFill>
          <a:blip r:embed="rId2"/>
          <a:stretch>
            <a:fillRect/>
          </a:stretch>
        </p:blipFill>
        <p:spPr>
          <a:xfrm>
            <a:off x="7193458" y="3315592"/>
            <a:ext cx="133350" cy="152400"/>
          </a:xfrm>
          <a:prstGeom prst="rect">
            <a:avLst/>
          </a:prstGeom>
        </p:spPr>
      </p:pic>
      <p:pic>
        <p:nvPicPr>
          <p:cNvPr id="34" name="Picture 33" descr="image.png"/>
          <p:cNvPicPr>
            <a:picLocks noChangeAspect="1"/>
          </p:cNvPicPr>
          <p:nvPr/>
        </p:nvPicPr>
        <p:blipFill>
          <a:blip r:embed="rId3"/>
          <a:stretch>
            <a:fillRect/>
          </a:stretch>
        </p:blipFill>
        <p:spPr>
          <a:xfrm>
            <a:off x="9521428" y="3315592"/>
            <a:ext cx="133350" cy="152400"/>
          </a:xfrm>
          <a:prstGeom prst="rect">
            <a:avLst/>
          </a:prstGeom>
        </p:spPr>
      </p:pic>
      <p:sp>
        <p:nvSpPr>
          <p:cNvPr id="35" name="TextBox 34"/>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36" name="TextBox 35"/>
          <p:cNvSpPr txBox="1"/>
          <p:nvPr/>
        </p:nvSpPr>
        <p:spPr>
          <a:xfrm>
            <a:off x="609600" y="4339530"/>
            <a:ext cx="11068050" cy="142875"/>
          </a:xfrm>
          <a:prstGeom prst="rect">
            <a:avLst/>
          </a:prstGeom>
          <a:noFill/>
        </p:spPr>
        <p:txBody>
          <a:bodyPr wrap="square" lIns="0" rIns="0" tIns="0" bIns="0" anchor="t">
            <a:spAutoFit/>
          </a:bodyPr>
          <a:lstStyle/>
          <a:p>
            <a:pPr algn="l"/>
            <a:r>
              <a:rPr b="1" sz="900" i="0" u="none">
                <a:solidFill>
                  <a:srgbClr val="475569"/>
                </a:solidFill>
                <a:latin typeface="Plus Jakarta Sans"/>
              </a:rPr>
              <a:t>Data Flow Integrity:</a:t>
            </a:r>
            <a:r>
              <a:rPr b="0" sz="900" i="0" u="none">
                <a:solidFill>
                  <a:srgbClr val="475569"/>
                </a:solidFill>
                <a:latin typeface="Plus Jakarta Sans"/>
              </a:rPr>
              <a:t> Every arrow represents strongly-typed data: Raw Packet JSON → Transformed 121-dim Tensor → Class Probabilities → Serialized REST Response → Dashboard Render.</a:t>
            </a:r>
          </a:p>
        </p:txBody>
      </p:sp>
      <p:sp>
        <p:nvSpPr>
          <p:cNvPr id="37" name="TextBox 36"/>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38" name="TextBox 37"/>
          <p:cNvSpPr txBox="1"/>
          <p:nvPr/>
        </p:nvSpPr>
        <p:spPr>
          <a:xfrm>
            <a:off x="11363325" y="6562725"/>
            <a:ext cx="657225" cy="142875"/>
          </a:xfrm>
          <a:prstGeom prst="rect">
            <a:avLst/>
          </a:prstGeom>
          <a:noFill/>
        </p:spPr>
        <p:txBody>
          <a:bodyPr wrap="none" lIns="0" rIns="0" tIns="0" bIns="0" anchor="t">
            <a:spAutoFit/>
          </a:bodyPr>
          <a:lstStyle/>
          <a:p>
            <a:pPr algn="l"/>
            <a:r>
              <a:rPr b="1" sz="900" i="0" u="none">
                <a:solidFill>
                  <a:srgbClr val="64748B"/>
                </a:solidFill>
                <a:latin typeface="Plus Jakarta Sans"/>
              </a:rPr>
              <a:t>Slide 8</a:t>
            </a:r>
          </a:p>
        </p:txBody>
      </p:sp>
      <p:sp>
        <p:nvSpPr>
          <p:cNvPr id="39" name="TextBox 38"/>
          <p:cNvSpPr txBox="1"/>
          <p:nvPr/>
        </p:nvSpPr>
        <p:spPr>
          <a:xfrm>
            <a:off x="457200" y="266700"/>
            <a:ext cx="4726781"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6</a:t>
            </a:r>
          </a:p>
        </p:txBody>
      </p:sp>
      <p:sp>
        <p:nvSpPr>
          <p:cNvPr id="40" name="TextBox 39"/>
          <p:cNvSpPr txBox="1"/>
          <p:nvPr/>
        </p:nvSpPr>
        <p:spPr>
          <a:xfrm>
            <a:off x="457200" y="457200"/>
            <a:ext cx="4963120"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Proposed System Architecture</a:t>
            </a:r>
          </a:p>
        </p:txBody>
      </p:sp>
      <p:sp>
        <p:nvSpPr>
          <p:cNvPr id="41" name="TextBox 40"/>
          <p:cNvSpPr txBox="1"/>
          <p:nvPr/>
        </p:nvSpPr>
        <p:spPr>
          <a:xfrm>
            <a:off x="461478" y="2977455"/>
            <a:ext cx="1957461" cy="123825"/>
          </a:xfrm>
          <a:prstGeom prst="rect">
            <a:avLst/>
          </a:prstGeom>
          <a:noFill/>
        </p:spPr>
        <p:txBody>
          <a:bodyPr wrap="none" lIns="0" rIns="0" tIns="0" bIns="0" anchor="t">
            <a:spAutoFit/>
          </a:bodyPr>
          <a:lstStyle/>
          <a:p>
            <a:pPr algn="ctr"/>
            <a:r>
              <a:rPr b="1" sz="825" i="0" u="none">
                <a:solidFill>
                  <a:srgbClr val="2563EB"/>
                </a:solidFill>
                <a:latin typeface="Plus Jakarta Sans"/>
              </a:rPr>
              <a:t>1. INPUT</a:t>
            </a:r>
          </a:p>
        </p:txBody>
      </p:sp>
      <p:sp>
        <p:nvSpPr>
          <p:cNvPr id="42" name="TextBox 41"/>
          <p:cNvSpPr txBox="1"/>
          <p:nvPr/>
        </p:nvSpPr>
        <p:spPr>
          <a:xfrm>
            <a:off x="412542" y="3158430"/>
            <a:ext cx="2055335" cy="171450"/>
          </a:xfrm>
          <a:prstGeom prst="rect">
            <a:avLst/>
          </a:prstGeom>
          <a:noFill/>
        </p:spPr>
        <p:txBody>
          <a:bodyPr wrap="none" lIns="0" rIns="0" tIns="0" bIns="0" anchor="t">
            <a:spAutoFit/>
          </a:bodyPr>
          <a:lstStyle/>
          <a:p>
            <a:pPr algn="ctr"/>
            <a:r>
              <a:rPr b="1" sz="1050" i="0" u="none">
                <a:solidFill>
                  <a:srgbClr val="1E293B"/>
                </a:solidFill>
                <a:latin typeface="Plus Jakarta Sans"/>
              </a:rPr>
              <a:t>Packet Telemetry</a:t>
            </a:r>
          </a:p>
        </p:txBody>
      </p:sp>
      <p:sp>
        <p:nvSpPr>
          <p:cNvPr id="43" name="TextBox 42"/>
          <p:cNvSpPr txBox="1"/>
          <p:nvPr/>
        </p:nvSpPr>
        <p:spPr>
          <a:xfrm>
            <a:off x="461478" y="3406080"/>
            <a:ext cx="1957461" cy="428625"/>
          </a:xfrm>
          <a:prstGeom prst="rect">
            <a:avLst/>
          </a:prstGeom>
          <a:noFill/>
        </p:spPr>
        <p:txBody>
          <a:bodyPr wrap="square" lIns="0" rIns="0" tIns="0" bIns="0" anchor="t">
            <a:spAutoFit/>
          </a:bodyPr>
          <a:lstStyle/>
          <a:p>
            <a:pPr algn="ctr"/>
            <a:r>
              <a:rPr b="0" sz="862" i="0" u="none">
                <a:solidFill>
                  <a:srgbClr val="64748B"/>
                </a:solidFill>
                <a:latin typeface="Plus Jakarta Sans"/>
              </a:rPr>
              <a:t>41 network attributes (duration, src/dst bytes, service, protocol, flags)</a:t>
            </a:r>
          </a:p>
        </p:txBody>
      </p:sp>
      <p:sp>
        <p:nvSpPr>
          <p:cNvPr id="44" name="TextBox 43"/>
          <p:cNvSpPr txBox="1"/>
          <p:nvPr/>
        </p:nvSpPr>
        <p:spPr>
          <a:xfrm>
            <a:off x="2789448" y="2977455"/>
            <a:ext cx="1957461" cy="123825"/>
          </a:xfrm>
          <a:prstGeom prst="rect">
            <a:avLst/>
          </a:prstGeom>
          <a:noFill/>
        </p:spPr>
        <p:txBody>
          <a:bodyPr wrap="none" lIns="0" rIns="0" tIns="0" bIns="0" anchor="t">
            <a:spAutoFit/>
          </a:bodyPr>
          <a:lstStyle/>
          <a:p>
            <a:pPr algn="ctr"/>
            <a:r>
              <a:rPr b="1" sz="825" i="0" u="none">
                <a:solidFill>
                  <a:srgbClr val="7C3AED"/>
                </a:solidFill>
                <a:latin typeface="Plus Jakarta Sans"/>
              </a:rPr>
              <a:t>2. PREPROCESSING</a:t>
            </a:r>
          </a:p>
        </p:txBody>
      </p:sp>
      <p:sp>
        <p:nvSpPr>
          <p:cNvPr id="45" name="TextBox 44"/>
          <p:cNvSpPr txBox="1"/>
          <p:nvPr/>
        </p:nvSpPr>
        <p:spPr>
          <a:xfrm>
            <a:off x="2740511" y="3158430"/>
            <a:ext cx="2055335" cy="171450"/>
          </a:xfrm>
          <a:prstGeom prst="rect">
            <a:avLst/>
          </a:prstGeom>
          <a:noFill/>
        </p:spPr>
        <p:txBody>
          <a:bodyPr wrap="none" lIns="0" rIns="0" tIns="0" bIns="0" anchor="t">
            <a:spAutoFit/>
          </a:bodyPr>
          <a:lstStyle/>
          <a:p>
            <a:pPr algn="ctr"/>
            <a:r>
              <a:rPr b="1" sz="1050" i="0" u="none">
                <a:solidFill>
                  <a:srgbClr val="1E293B"/>
                </a:solidFill>
                <a:latin typeface="Plus Jakarta Sans"/>
              </a:rPr>
              <a:t>Feature Pipeline</a:t>
            </a:r>
          </a:p>
        </p:txBody>
      </p:sp>
      <p:sp>
        <p:nvSpPr>
          <p:cNvPr id="46" name="TextBox 45"/>
          <p:cNvSpPr txBox="1"/>
          <p:nvPr/>
        </p:nvSpPr>
        <p:spPr>
          <a:xfrm>
            <a:off x="2789448" y="3406080"/>
            <a:ext cx="1957461" cy="428625"/>
          </a:xfrm>
          <a:prstGeom prst="rect">
            <a:avLst/>
          </a:prstGeom>
          <a:noFill/>
        </p:spPr>
        <p:txBody>
          <a:bodyPr wrap="square" lIns="0" rIns="0" tIns="0" bIns="0" anchor="t">
            <a:spAutoFit/>
          </a:bodyPr>
          <a:lstStyle/>
          <a:p>
            <a:pPr algn="ctr"/>
            <a:r>
              <a:rPr b="0" sz="862" i="0" u="none">
                <a:solidFill>
                  <a:srgbClr val="64748B"/>
                </a:solidFill>
                <a:latin typeface="Plus Jakarta Sans"/>
              </a:rPr>
              <a:t>StandardScaler, One-Hot (121 dims), PCA (30 components), K-Means</a:t>
            </a:r>
          </a:p>
        </p:txBody>
      </p:sp>
      <p:sp>
        <p:nvSpPr>
          <p:cNvPr id="47" name="TextBox 46"/>
          <p:cNvSpPr txBox="1"/>
          <p:nvPr/>
        </p:nvSpPr>
        <p:spPr>
          <a:xfrm>
            <a:off x="5117417" y="2977455"/>
            <a:ext cx="1957461" cy="123825"/>
          </a:xfrm>
          <a:prstGeom prst="rect">
            <a:avLst/>
          </a:prstGeom>
          <a:noFill/>
        </p:spPr>
        <p:txBody>
          <a:bodyPr wrap="none" lIns="0" rIns="0" tIns="0" bIns="0" anchor="t">
            <a:spAutoFit/>
          </a:bodyPr>
          <a:lstStyle/>
          <a:p>
            <a:pPr algn="ctr"/>
            <a:r>
              <a:rPr b="1" sz="825" i="0" u="none">
                <a:solidFill>
                  <a:srgbClr val="8B1E23"/>
                </a:solidFill>
                <a:latin typeface="Plus Jakarta Sans"/>
              </a:rPr>
              <a:t>3. CORE ML</a:t>
            </a:r>
          </a:p>
        </p:txBody>
      </p:sp>
      <p:sp>
        <p:nvSpPr>
          <p:cNvPr id="48" name="TextBox 47"/>
          <p:cNvSpPr txBox="1"/>
          <p:nvPr/>
        </p:nvSpPr>
        <p:spPr>
          <a:xfrm>
            <a:off x="5068481" y="3158430"/>
            <a:ext cx="2055335" cy="171450"/>
          </a:xfrm>
          <a:prstGeom prst="rect">
            <a:avLst/>
          </a:prstGeom>
          <a:noFill/>
        </p:spPr>
        <p:txBody>
          <a:bodyPr wrap="none" lIns="0" rIns="0" tIns="0" bIns="0" anchor="t">
            <a:spAutoFit/>
          </a:bodyPr>
          <a:lstStyle/>
          <a:p>
            <a:pPr algn="ctr"/>
            <a:r>
              <a:rPr b="1" sz="1050" i="0" u="none">
                <a:solidFill>
                  <a:srgbClr val="1E293B"/>
                </a:solidFill>
                <a:latin typeface="Plus Jakarta Sans"/>
              </a:rPr>
              <a:t>Ensemble Models</a:t>
            </a:r>
          </a:p>
        </p:txBody>
      </p:sp>
      <p:sp>
        <p:nvSpPr>
          <p:cNvPr id="49" name="TextBox 48"/>
          <p:cNvSpPr txBox="1"/>
          <p:nvPr/>
        </p:nvSpPr>
        <p:spPr>
          <a:xfrm>
            <a:off x="5117417" y="3406080"/>
            <a:ext cx="1957461" cy="428625"/>
          </a:xfrm>
          <a:prstGeom prst="rect">
            <a:avLst/>
          </a:prstGeom>
          <a:noFill/>
        </p:spPr>
        <p:txBody>
          <a:bodyPr wrap="square" lIns="0" rIns="0" tIns="0" bIns="0" anchor="t">
            <a:spAutoFit/>
          </a:bodyPr>
          <a:lstStyle/>
          <a:p>
            <a:pPr algn="ctr"/>
            <a:r>
              <a:rPr b="0" sz="862" i="0" u="none">
                <a:solidFill>
                  <a:srgbClr val="64748B"/>
                </a:solidFill>
                <a:latin typeface="Plus Jakarta Sans"/>
              </a:rPr>
              <a:t>Binary XGBoost (Attack/Normal) &amp; Multiclass Random Forest (5 Classes)</a:t>
            </a:r>
          </a:p>
        </p:txBody>
      </p:sp>
      <p:sp>
        <p:nvSpPr>
          <p:cNvPr id="50" name="TextBox 49"/>
          <p:cNvSpPr txBox="1"/>
          <p:nvPr/>
        </p:nvSpPr>
        <p:spPr>
          <a:xfrm>
            <a:off x="7445387" y="2977455"/>
            <a:ext cx="1957461" cy="123825"/>
          </a:xfrm>
          <a:prstGeom prst="rect">
            <a:avLst/>
          </a:prstGeom>
          <a:noFill/>
        </p:spPr>
        <p:txBody>
          <a:bodyPr wrap="none" lIns="0" rIns="0" tIns="0" bIns="0" anchor="t">
            <a:spAutoFit/>
          </a:bodyPr>
          <a:lstStyle/>
          <a:p>
            <a:pPr algn="ctr"/>
            <a:r>
              <a:rPr b="1" sz="825" i="0" u="none">
                <a:solidFill>
                  <a:srgbClr val="059669"/>
                </a:solidFill>
                <a:latin typeface="Plus Jakarta Sans"/>
              </a:rPr>
              <a:t>4. SERVING</a:t>
            </a:r>
          </a:p>
        </p:txBody>
      </p:sp>
      <p:sp>
        <p:nvSpPr>
          <p:cNvPr id="51" name="TextBox 50"/>
          <p:cNvSpPr txBox="1"/>
          <p:nvPr/>
        </p:nvSpPr>
        <p:spPr>
          <a:xfrm>
            <a:off x="7396450" y="3158430"/>
            <a:ext cx="2055335" cy="171450"/>
          </a:xfrm>
          <a:prstGeom prst="rect">
            <a:avLst/>
          </a:prstGeom>
          <a:noFill/>
        </p:spPr>
        <p:txBody>
          <a:bodyPr wrap="none" lIns="0" rIns="0" tIns="0" bIns="0" anchor="t">
            <a:spAutoFit/>
          </a:bodyPr>
          <a:lstStyle/>
          <a:p>
            <a:pPr algn="ctr"/>
            <a:r>
              <a:rPr b="1" sz="1050" i="0" u="none">
                <a:solidFill>
                  <a:srgbClr val="1E293B"/>
                </a:solidFill>
                <a:latin typeface="Plus Jakarta Sans"/>
              </a:rPr>
              <a:t>FastAPI Engine</a:t>
            </a:r>
          </a:p>
        </p:txBody>
      </p:sp>
      <p:sp>
        <p:nvSpPr>
          <p:cNvPr id="52" name="TextBox 51"/>
          <p:cNvSpPr txBox="1"/>
          <p:nvPr/>
        </p:nvSpPr>
        <p:spPr>
          <a:xfrm>
            <a:off x="7445387" y="3406080"/>
            <a:ext cx="1957461" cy="428625"/>
          </a:xfrm>
          <a:prstGeom prst="rect">
            <a:avLst/>
          </a:prstGeom>
          <a:noFill/>
        </p:spPr>
        <p:txBody>
          <a:bodyPr wrap="square" lIns="0" rIns="0" tIns="0" bIns="0" anchor="t">
            <a:spAutoFit/>
          </a:bodyPr>
          <a:lstStyle/>
          <a:p>
            <a:pPr algn="ctr"/>
            <a:r>
              <a:rPr b="0" sz="862" i="0" u="none">
                <a:solidFill>
                  <a:srgbClr val="64748B"/>
                </a:solidFill>
                <a:latin typeface="Plus Jakarta Sans"/>
              </a:rPr>
              <a:t>Pydantic schema validation, Async endpoints &amp; KS-test drift checks</a:t>
            </a:r>
          </a:p>
        </p:txBody>
      </p:sp>
      <p:sp>
        <p:nvSpPr>
          <p:cNvPr id="53" name="TextBox 52"/>
          <p:cNvSpPr txBox="1"/>
          <p:nvPr/>
        </p:nvSpPr>
        <p:spPr>
          <a:xfrm>
            <a:off x="9773356" y="2977455"/>
            <a:ext cx="1957461" cy="123825"/>
          </a:xfrm>
          <a:prstGeom prst="rect">
            <a:avLst/>
          </a:prstGeom>
          <a:noFill/>
        </p:spPr>
        <p:txBody>
          <a:bodyPr wrap="none" lIns="0" rIns="0" tIns="0" bIns="0" anchor="t">
            <a:spAutoFit/>
          </a:bodyPr>
          <a:lstStyle/>
          <a:p>
            <a:pPr algn="ctr"/>
            <a:r>
              <a:rPr b="1" sz="825" i="0" u="none">
                <a:solidFill>
                  <a:srgbClr val="D97706"/>
                </a:solidFill>
                <a:latin typeface="Plus Jakarta Sans"/>
              </a:rPr>
              <a:t>5. OUTPUT</a:t>
            </a:r>
          </a:p>
        </p:txBody>
      </p:sp>
      <p:sp>
        <p:nvSpPr>
          <p:cNvPr id="54" name="TextBox 53"/>
          <p:cNvSpPr txBox="1"/>
          <p:nvPr/>
        </p:nvSpPr>
        <p:spPr>
          <a:xfrm>
            <a:off x="9724420" y="3158430"/>
            <a:ext cx="2055335" cy="171450"/>
          </a:xfrm>
          <a:prstGeom prst="rect">
            <a:avLst/>
          </a:prstGeom>
          <a:noFill/>
        </p:spPr>
        <p:txBody>
          <a:bodyPr wrap="none" lIns="0" rIns="0" tIns="0" bIns="0" anchor="t">
            <a:spAutoFit/>
          </a:bodyPr>
          <a:lstStyle/>
          <a:p>
            <a:pPr algn="ctr"/>
            <a:r>
              <a:rPr b="1" sz="1050" i="0" u="none">
                <a:solidFill>
                  <a:srgbClr val="1E293B"/>
                </a:solidFill>
                <a:latin typeface="Plus Jakarta Sans"/>
              </a:rPr>
              <a:t>Streamlit UI</a:t>
            </a:r>
          </a:p>
        </p:txBody>
      </p:sp>
      <p:sp>
        <p:nvSpPr>
          <p:cNvPr id="55" name="TextBox 54"/>
          <p:cNvSpPr txBox="1"/>
          <p:nvPr/>
        </p:nvSpPr>
        <p:spPr>
          <a:xfrm>
            <a:off x="9773356" y="3406080"/>
            <a:ext cx="1957461" cy="428625"/>
          </a:xfrm>
          <a:prstGeom prst="rect">
            <a:avLst/>
          </a:prstGeom>
          <a:noFill/>
        </p:spPr>
        <p:txBody>
          <a:bodyPr wrap="square" lIns="0" rIns="0" tIns="0" bIns="0" anchor="t">
            <a:spAutoFit/>
          </a:bodyPr>
          <a:lstStyle/>
          <a:p>
            <a:pPr algn="ctr"/>
            <a:r>
              <a:rPr b="0" sz="862" i="0" u="none">
                <a:solidFill>
                  <a:srgbClr val="64748B"/>
                </a:solidFill>
                <a:latin typeface="Plus Jakarta Sans"/>
              </a:rPr>
              <a:t>Real-time threat alerts, attack probability &amp; confidence scores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451199"/>
            <a:ext cx="5562600" cy="1145381"/>
          </a:xfrm>
          <a:prstGeom prst="roundRect">
            <a:avLst>
              <a:gd name="adj" fmla="val 665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72200" y="2451199"/>
            <a:ext cx="5562600" cy="1145381"/>
          </a:xfrm>
          <a:prstGeom prst="roundRect">
            <a:avLst>
              <a:gd name="adj" fmla="val 665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3748980"/>
            <a:ext cx="5562600" cy="1145381"/>
          </a:xfrm>
          <a:prstGeom prst="roundRect">
            <a:avLst>
              <a:gd name="adj" fmla="val 665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72200" y="3748980"/>
            <a:ext cx="5562600" cy="1145381"/>
          </a:xfrm>
          <a:prstGeom prst="roundRect">
            <a:avLst>
              <a:gd name="adj" fmla="val 665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657225" y="2641699"/>
            <a:ext cx="133350" cy="152400"/>
          </a:xfrm>
          <a:prstGeom prst="rect">
            <a:avLst/>
          </a:prstGeom>
        </p:spPr>
      </p:pic>
      <p:pic>
        <p:nvPicPr>
          <p:cNvPr id="9" name="Picture 8" descr="image.png"/>
          <p:cNvPicPr>
            <a:picLocks noChangeAspect="1"/>
          </p:cNvPicPr>
          <p:nvPr/>
        </p:nvPicPr>
        <p:blipFill>
          <a:blip r:embed="rId3"/>
          <a:stretch>
            <a:fillRect/>
          </a:stretch>
        </p:blipFill>
        <p:spPr>
          <a:xfrm>
            <a:off x="6372225" y="2641699"/>
            <a:ext cx="152400" cy="152400"/>
          </a:xfrm>
          <a:prstGeom prst="rect">
            <a:avLst/>
          </a:prstGeom>
        </p:spPr>
      </p:pic>
      <p:pic>
        <p:nvPicPr>
          <p:cNvPr id="10" name="Picture 9" descr="image.png"/>
          <p:cNvPicPr>
            <a:picLocks noChangeAspect="1"/>
          </p:cNvPicPr>
          <p:nvPr/>
        </p:nvPicPr>
        <p:blipFill>
          <a:blip r:embed="rId4"/>
          <a:stretch>
            <a:fillRect/>
          </a:stretch>
        </p:blipFill>
        <p:spPr>
          <a:xfrm>
            <a:off x="657225" y="3939480"/>
            <a:ext cx="152400" cy="152400"/>
          </a:xfrm>
          <a:prstGeom prst="rect">
            <a:avLst/>
          </a:prstGeom>
        </p:spPr>
      </p:pic>
      <p:pic>
        <p:nvPicPr>
          <p:cNvPr id="11" name="Picture 10" descr="image.png"/>
          <p:cNvPicPr>
            <a:picLocks noChangeAspect="1"/>
          </p:cNvPicPr>
          <p:nvPr/>
        </p:nvPicPr>
        <p:blipFill>
          <a:blip r:embed="rId5"/>
          <a:stretch>
            <a:fillRect/>
          </a:stretch>
        </p:blipFill>
        <p:spPr>
          <a:xfrm>
            <a:off x="6372225" y="3939480"/>
            <a:ext cx="171450" cy="152400"/>
          </a:xfrm>
          <a:prstGeom prst="rect">
            <a:avLst/>
          </a:prstGeom>
        </p:spPr>
      </p:pic>
      <p:sp>
        <p:nvSpPr>
          <p:cNvPr id="12" name="TextBox 11"/>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13" name="TextBox 12"/>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14" name="TextBox 13"/>
          <p:cNvSpPr txBox="1"/>
          <p:nvPr/>
        </p:nvSpPr>
        <p:spPr>
          <a:xfrm>
            <a:off x="11372850" y="6562725"/>
            <a:ext cx="647700" cy="142875"/>
          </a:xfrm>
          <a:prstGeom prst="rect">
            <a:avLst/>
          </a:prstGeom>
          <a:noFill/>
        </p:spPr>
        <p:txBody>
          <a:bodyPr wrap="none" lIns="0" rIns="0" tIns="0" bIns="0" anchor="t">
            <a:spAutoFit/>
          </a:bodyPr>
          <a:lstStyle/>
          <a:p>
            <a:pPr algn="l"/>
            <a:r>
              <a:rPr b="1" sz="900" i="0" u="none">
                <a:solidFill>
                  <a:srgbClr val="64748B"/>
                </a:solidFill>
                <a:latin typeface="Plus Jakarta Sans"/>
              </a:rPr>
              <a:t>Slide 9</a:t>
            </a:r>
          </a:p>
        </p:txBody>
      </p:sp>
      <p:sp>
        <p:nvSpPr>
          <p:cNvPr id="15" name="TextBox 14"/>
          <p:cNvSpPr txBox="1"/>
          <p:nvPr/>
        </p:nvSpPr>
        <p:spPr>
          <a:xfrm>
            <a:off x="457200" y="266700"/>
            <a:ext cx="3786187"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7</a:t>
            </a:r>
          </a:p>
        </p:txBody>
      </p:sp>
      <p:sp>
        <p:nvSpPr>
          <p:cNvPr id="16" name="TextBox 15"/>
          <p:cNvSpPr txBox="1"/>
          <p:nvPr/>
        </p:nvSpPr>
        <p:spPr>
          <a:xfrm>
            <a:off x="457200" y="457200"/>
            <a:ext cx="3975496"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Methodology &amp; Modules</a:t>
            </a:r>
          </a:p>
        </p:txBody>
      </p:sp>
      <p:sp>
        <p:nvSpPr>
          <p:cNvPr id="17" name="TextBox 16"/>
          <p:cNvSpPr txBox="1"/>
          <p:nvPr/>
        </p:nvSpPr>
        <p:spPr>
          <a:xfrm>
            <a:off x="657225" y="2879824"/>
            <a:ext cx="5257800" cy="535781"/>
          </a:xfrm>
          <a:prstGeom prst="rect">
            <a:avLst/>
          </a:prstGeom>
          <a:noFill/>
        </p:spPr>
        <p:txBody>
          <a:bodyPr wrap="square" lIns="0" rIns="0" tIns="0" bIns="0" anchor="t">
            <a:spAutoFit/>
          </a:bodyPr>
          <a:lstStyle/>
          <a:p>
            <a:pPr algn="l">
              <a:lnSpc>
                <a:spcPts val="1406"/>
              </a:lnSpc>
            </a:pPr>
            <a:r>
              <a:rPr b="0" sz="937" i="0" u="none">
                <a:solidFill>
                  <a:srgbClr val="475569"/>
                </a:solidFill>
                <a:latin typeface="Plus Jakarta Sans"/>
              </a:rPr>
              <a:t>Sourced from the benchmark NSL-KDD dataset (148,517 total records, 41 features). Split into 70% training (103,961), 15% validation (22,278), and 15% testing (22,278) with stratified distributions across attack categories.</a:t>
            </a:r>
          </a:p>
        </p:txBody>
      </p:sp>
      <p:sp>
        <p:nvSpPr>
          <p:cNvPr id="18" name="TextBox 17"/>
          <p:cNvSpPr txBox="1"/>
          <p:nvPr/>
        </p:nvSpPr>
        <p:spPr>
          <a:xfrm>
            <a:off x="6372225" y="2879824"/>
            <a:ext cx="5257800" cy="535781"/>
          </a:xfrm>
          <a:prstGeom prst="rect">
            <a:avLst/>
          </a:prstGeom>
          <a:noFill/>
        </p:spPr>
        <p:txBody>
          <a:bodyPr wrap="square" lIns="0" rIns="0" tIns="0" bIns="0" anchor="t">
            <a:spAutoFit/>
          </a:bodyPr>
          <a:lstStyle/>
          <a:p>
            <a:pPr algn="l">
              <a:lnSpc>
                <a:spcPts val="1406"/>
              </a:lnSpc>
            </a:pPr>
            <a:r>
              <a:rPr b="0" sz="937" i="0" u="none">
                <a:solidFill>
                  <a:srgbClr val="475569"/>
                </a:solidFill>
                <a:latin typeface="Plus Jakarta Sans"/>
              </a:rPr>
              <a:t>Categorical one-hot encoding expands features to 121 columns. Continuous features scaled with StandardScaler. PCA retains 99.55% cumulative variance across 30 principal components with K-Means (k=10) cluster distances.</a:t>
            </a:r>
          </a:p>
        </p:txBody>
      </p:sp>
      <p:sp>
        <p:nvSpPr>
          <p:cNvPr id="19" name="TextBox 18"/>
          <p:cNvSpPr txBox="1"/>
          <p:nvPr/>
        </p:nvSpPr>
        <p:spPr>
          <a:xfrm>
            <a:off x="657225" y="4177605"/>
            <a:ext cx="5257800" cy="535781"/>
          </a:xfrm>
          <a:prstGeom prst="rect">
            <a:avLst/>
          </a:prstGeom>
          <a:noFill/>
        </p:spPr>
        <p:txBody>
          <a:bodyPr wrap="square" lIns="0" rIns="0" tIns="0" bIns="0" anchor="t">
            <a:spAutoFit/>
          </a:bodyPr>
          <a:lstStyle/>
          <a:p>
            <a:pPr algn="l">
              <a:lnSpc>
                <a:spcPts val="1406"/>
              </a:lnSpc>
            </a:pPr>
            <a:r>
              <a:rPr b="0" sz="937" i="0" u="none">
                <a:solidFill>
                  <a:srgbClr val="475569"/>
                </a:solidFill>
                <a:latin typeface="Plus Jakarta Sans"/>
              </a:rPr>
              <a:t>Stratified 5-Fold Cross-Validation for tree ensembles. Binary classifier separates attacks from benign sessions; Multiclass classifier categorizes attacks into DoS, Probe, R2L, and U2R vectors.</a:t>
            </a:r>
          </a:p>
        </p:txBody>
      </p:sp>
      <p:sp>
        <p:nvSpPr>
          <p:cNvPr id="20" name="TextBox 19"/>
          <p:cNvSpPr txBox="1"/>
          <p:nvPr/>
        </p:nvSpPr>
        <p:spPr>
          <a:xfrm>
            <a:off x="6372225" y="4177605"/>
            <a:ext cx="5257800" cy="535781"/>
          </a:xfrm>
          <a:prstGeom prst="rect">
            <a:avLst/>
          </a:prstGeom>
          <a:noFill/>
        </p:spPr>
        <p:txBody>
          <a:bodyPr wrap="square" lIns="0" rIns="0" tIns="0" bIns="0" anchor="t">
            <a:spAutoFit/>
          </a:bodyPr>
          <a:lstStyle/>
          <a:p>
            <a:pPr algn="l">
              <a:lnSpc>
                <a:spcPts val="1406"/>
              </a:lnSpc>
            </a:pPr>
            <a:r>
              <a:rPr b="0" sz="937" i="0" u="none">
                <a:solidFill>
                  <a:srgbClr val="475569"/>
                </a:solidFill>
                <a:latin typeface="Plus Jakarta Sans"/>
              </a:rPr>
              <a:t>FastAPI application loads serialized joblib models at startup. Streamlit frontend interfaces directly via HTTP POST requests, rendering threat confidence and telemetry metrics in sub-10ms.</a:t>
            </a:r>
          </a:p>
        </p:txBody>
      </p:sp>
      <p:sp>
        <p:nvSpPr>
          <p:cNvPr id="21" name="TextBox 20"/>
          <p:cNvSpPr txBox="1"/>
          <p:nvPr/>
        </p:nvSpPr>
        <p:spPr>
          <a:xfrm>
            <a:off x="866775" y="2632174"/>
            <a:ext cx="2200275" cy="171450"/>
          </a:xfrm>
          <a:prstGeom prst="rect">
            <a:avLst/>
          </a:prstGeom>
          <a:noFill/>
        </p:spPr>
        <p:txBody>
          <a:bodyPr wrap="none" lIns="0" rIns="0" tIns="0" bIns="0" anchor="t">
            <a:spAutoFit/>
          </a:bodyPr>
          <a:lstStyle/>
          <a:p>
            <a:pPr algn="l"/>
            <a:r>
              <a:rPr b="1" sz="1050" i="0" u="none">
                <a:solidFill>
                  <a:srgbClr val="0F172A"/>
                </a:solidFill>
                <a:latin typeface="Plus Jakarta Sans"/>
              </a:rPr>
              <a:t>Module 1 — Data Ingestion</a:t>
            </a:r>
          </a:p>
        </p:txBody>
      </p:sp>
      <p:sp>
        <p:nvSpPr>
          <p:cNvPr id="22" name="TextBox 21"/>
          <p:cNvSpPr txBox="1"/>
          <p:nvPr/>
        </p:nvSpPr>
        <p:spPr>
          <a:xfrm>
            <a:off x="6600825" y="2632174"/>
            <a:ext cx="2700337" cy="171450"/>
          </a:xfrm>
          <a:prstGeom prst="rect">
            <a:avLst/>
          </a:prstGeom>
          <a:noFill/>
        </p:spPr>
        <p:txBody>
          <a:bodyPr wrap="none" lIns="0" rIns="0" tIns="0" bIns="0" anchor="t">
            <a:spAutoFit/>
          </a:bodyPr>
          <a:lstStyle/>
          <a:p>
            <a:pPr algn="l"/>
            <a:r>
              <a:rPr b="1" sz="1050" i="0" u="none">
                <a:solidFill>
                  <a:srgbClr val="0F172A"/>
                </a:solidFill>
                <a:latin typeface="Plus Jakarta Sans"/>
              </a:rPr>
              <a:t>Module 2 — Feature Engineering</a:t>
            </a:r>
          </a:p>
        </p:txBody>
      </p:sp>
      <p:sp>
        <p:nvSpPr>
          <p:cNvPr id="23" name="TextBox 22"/>
          <p:cNvSpPr txBox="1"/>
          <p:nvPr/>
        </p:nvSpPr>
        <p:spPr>
          <a:xfrm>
            <a:off x="885825" y="3929955"/>
            <a:ext cx="2637829" cy="171450"/>
          </a:xfrm>
          <a:prstGeom prst="rect">
            <a:avLst/>
          </a:prstGeom>
          <a:noFill/>
        </p:spPr>
        <p:txBody>
          <a:bodyPr wrap="none" lIns="0" rIns="0" tIns="0" bIns="0" anchor="t">
            <a:spAutoFit/>
          </a:bodyPr>
          <a:lstStyle/>
          <a:p>
            <a:pPr algn="l"/>
            <a:r>
              <a:rPr b="1" sz="1050" i="0" u="none">
                <a:solidFill>
                  <a:srgbClr val="0F172A"/>
                </a:solidFill>
                <a:latin typeface="Plus Jakarta Sans"/>
              </a:rPr>
              <a:t>Module 3 — Core Classification</a:t>
            </a:r>
          </a:p>
        </p:txBody>
      </p:sp>
      <p:sp>
        <p:nvSpPr>
          <p:cNvPr id="24" name="TextBox 23"/>
          <p:cNvSpPr txBox="1"/>
          <p:nvPr/>
        </p:nvSpPr>
        <p:spPr>
          <a:xfrm>
            <a:off x="6619875" y="3929955"/>
            <a:ext cx="2337792" cy="171450"/>
          </a:xfrm>
          <a:prstGeom prst="rect">
            <a:avLst/>
          </a:prstGeom>
          <a:noFill/>
        </p:spPr>
        <p:txBody>
          <a:bodyPr wrap="none" lIns="0" rIns="0" tIns="0" bIns="0" anchor="t">
            <a:spAutoFit/>
          </a:bodyPr>
          <a:lstStyle/>
          <a:p>
            <a:pPr algn="l"/>
            <a:r>
              <a:rPr b="1" sz="1050" i="0" u="none">
                <a:solidFill>
                  <a:srgbClr val="0F172A"/>
                </a:solidFill>
                <a:latin typeface="Plus Jakarta Sans"/>
              </a:rPr>
              <a:t>Module 4 — API Serving &amp; UI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667892"/>
            <a:ext cx="6572250" cy="2009775"/>
          </a:xfrm>
          <a:prstGeom prst="roundRect">
            <a:avLst>
              <a:gd name="adj" fmla="val 379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219950" y="2667892"/>
            <a:ext cx="4514850" cy="2009775"/>
          </a:xfrm>
          <a:prstGeom prst="roundRect">
            <a:avLst>
              <a:gd name="adj" fmla="val 379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7225" y="3077467"/>
            <a:ext cx="6172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19975" y="3077467"/>
            <a:ext cx="4114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9" name="TextBox 8"/>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10" name="TextBox 9"/>
          <p:cNvSpPr txBox="1"/>
          <p:nvPr/>
        </p:nvSpPr>
        <p:spPr>
          <a:xfrm>
            <a:off x="11306175" y="6562725"/>
            <a:ext cx="714375" cy="142875"/>
          </a:xfrm>
          <a:prstGeom prst="rect">
            <a:avLst/>
          </a:prstGeom>
          <a:noFill/>
        </p:spPr>
        <p:txBody>
          <a:bodyPr wrap="none" lIns="0" rIns="0" tIns="0" bIns="0" anchor="t">
            <a:spAutoFit/>
          </a:bodyPr>
          <a:lstStyle/>
          <a:p>
            <a:pPr algn="l"/>
            <a:r>
              <a:rPr b="1" sz="900" i="0" u="none">
                <a:solidFill>
                  <a:srgbClr val="64748B"/>
                </a:solidFill>
                <a:latin typeface="Plus Jakarta Sans"/>
              </a:rPr>
              <a:t>Slide 10</a:t>
            </a:r>
          </a:p>
        </p:txBody>
      </p:sp>
      <p:sp>
        <p:nvSpPr>
          <p:cNvPr id="11" name="TextBox 10"/>
          <p:cNvSpPr txBox="1"/>
          <p:nvPr/>
        </p:nvSpPr>
        <p:spPr>
          <a:xfrm>
            <a:off x="457200" y="266700"/>
            <a:ext cx="3512343"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8</a:t>
            </a:r>
          </a:p>
        </p:txBody>
      </p:sp>
      <p:sp>
        <p:nvSpPr>
          <p:cNvPr id="12" name="TextBox 11"/>
          <p:cNvSpPr txBox="1"/>
          <p:nvPr/>
        </p:nvSpPr>
        <p:spPr>
          <a:xfrm>
            <a:off x="457200" y="457200"/>
            <a:ext cx="3687960"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Tools and Technologies</a:t>
            </a:r>
          </a:p>
        </p:txBody>
      </p:sp>
      <p:sp>
        <p:nvSpPr>
          <p:cNvPr id="13" name="TextBox 12"/>
          <p:cNvSpPr txBox="1"/>
          <p:nvPr/>
        </p:nvSpPr>
        <p:spPr>
          <a:xfrm>
            <a:off x="657225" y="2848867"/>
            <a:ext cx="6580822" cy="180975"/>
          </a:xfrm>
          <a:prstGeom prst="rect">
            <a:avLst/>
          </a:prstGeom>
          <a:noFill/>
        </p:spPr>
        <p:txBody>
          <a:bodyPr wrap="square" lIns="0" rIns="0" tIns="0" bIns="0" anchor="t">
            <a:spAutoFit/>
          </a:bodyPr>
          <a:lstStyle/>
          <a:p>
            <a:pPr algn="l"/>
            <a:r>
              <a:rPr b="1" sz="1050" i="0" u="none">
                <a:solidFill>
                  <a:srgbClr val="8B1E23"/>
                </a:solidFill>
                <a:latin typeface="Plus Jakarta Sans"/>
              </a:rPr>
              <a:t>SOFTWARE STACK</a:t>
            </a:r>
          </a:p>
        </p:txBody>
      </p:sp>
      <p:sp>
        <p:nvSpPr>
          <p:cNvPr id="14" name="TextBox 13"/>
          <p:cNvSpPr txBox="1"/>
          <p:nvPr/>
        </p:nvSpPr>
        <p:spPr>
          <a:xfrm>
            <a:off x="7419975" y="2848867"/>
            <a:ext cx="4420552" cy="180975"/>
          </a:xfrm>
          <a:prstGeom prst="rect">
            <a:avLst/>
          </a:prstGeom>
          <a:noFill/>
        </p:spPr>
        <p:txBody>
          <a:bodyPr wrap="square" lIns="0" rIns="0" tIns="0" bIns="0" anchor="t">
            <a:spAutoFit/>
          </a:bodyPr>
          <a:lstStyle/>
          <a:p>
            <a:pPr algn="l"/>
            <a:r>
              <a:rPr b="1" sz="1050" i="0" u="none">
                <a:solidFill>
                  <a:srgbClr val="8B1E23"/>
                </a:solidFill>
                <a:latin typeface="Plus Jakarta Sans"/>
              </a:rPr>
              <a:t>HARDWARE &amp; PLATFORM</a:t>
            </a:r>
          </a:p>
        </p:txBody>
      </p:sp>
      <p:sp>
        <p:nvSpPr>
          <p:cNvPr id="15" name="TextBox 14"/>
          <p:cNvSpPr txBox="1"/>
          <p:nvPr/>
        </p:nvSpPr>
        <p:spPr>
          <a:xfrm>
            <a:off x="657225" y="3201292"/>
            <a:ext cx="7715250" cy="152400"/>
          </a:xfrm>
          <a:prstGeom prst="rect">
            <a:avLst/>
          </a:prstGeom>
          <a:noFill/>
        </p:spPr>
        <p:txBody>
          <a:bodyPr wrap="none" lIns="0" rIns="0" tIns="0" bIns="0" anchor="t">
            <a:spAutoFit/>
          </a:bodyPr>
          <a:lstStyle/>
          <a:p>
            <a:pPr algn="l"/>
            <a:r>
              <a:rPr b="1" sz="937" i="0" u="none">
                <a:solidFill>
                  <a:srgbClr val="334155"/>
                </a:solidFill>
                <a:latin typeface="Plus Jakarta Sans"/>
              </a:rPr>
              <a:t>Core Language:</a:t>
            </a:r>
            <a:r>
              <a:rPr b="0" sz="937" i="0" u="none">
                <a:solidFill>
                  <a:srgbClr val="334155"/>
                </a:solidFill>
                <a:latin typeface="Plus Jakarta Sans"/>
              </a:rPr>
              <a:t> Python 3.12</a:t>
            </a:r>
          </a:p>
        </p:txBody>
      </p:sp>
      <p:sp>
        <p:nvSpPr>
          <p:cNvPr id="16" name="TextBox 15"/>
          <p:cNvSpPr txBox="1"/>
          <p:nvPr/>
        </p:nvSpPr>
        <p:spPr>
          <a:xfrm>
            <a:off x="657225" y="3429892"/>
            <a:ext cx="7715250" cy="152400"/>
          </a:xfrm>
          <a:prstGeom prst="rect">
            <a:avLst/>
          </a:prstGeom>
          <a:noFill/>
        </p:spPr>
        <p:txBody>
          <a:bodyPr wrap="none" lIns="0" rIns="0" tIns="0" bIns="0" anchor="t">
            <a:spAutoFit/>
          </a:bodyPr>
          <a:lstStyle/>
          <a:p>
            <a:pPr algn="l"/>
            <a:r>
              <a:rPr b="1" sz="937" i="0" u="none">
                <a:solidFill>
                  <a:srgbClr val="334155"/>
                </a:solidFill>
                <a:latin typeface="Plus Jakarta Sans"/>
              </a:rPr>
              <a:t>Machine Learning:</a:t>
            </a:r>
            <a:r>
              <a:rPr b="0" sz="937" i="0" u="none">
                <a:solidFill>
                  <a:srgbClr val="334155"/>
                </a:solidFill>
                <a:latin typeface="Plus Jakarta Sans"/>
              </a:rPr>
              <a:t> Scikit-learn, XGBoost, SciPy, Joblib</a:t>
            </a:r>
          </a:p>
        </p:txBody>
      </p:sp>
      <p:sp>
        <p:nvSpPr>
          <p:cNvPr id="17" name="TextBox 16"/>
          <p:cNvSpPr txBox="1"/>
          <p:nvPr/>
        </p:nvSpPr>
        <p:spPr>
          <a:xfrm>
            <a:off x="657225" y="3658492"/>
            <a:ext cx="7715250" cy="152400"/>
          </a:xfrm>
          <a:prstGeom prst="rect">
            <a:avLst/>
          </a:prstGeom>
          <a:noFill/>
        </p:spPr>
        <p:txBody>
          <a:bodyPr wrap="none" lIns="0" rIns="0" tIns="0" bIns="0" anchor="t">
            <a:spAutoFit/>
          </a:bodyPr>
          <a:lstStyle/>
          <a:p>
            <a:pPr algn="l"/>
            <a:r>
              <a:rPr b="1" sz="937" i="0" u="none">
                <a:solidFill>
                  <a:srgbClr val="334155"/>
                </a:solidFill>
                <a:latin typeface="Plus Jakarta Sans"/>
              </a:rPr>
              <a:t>Data Processing:</a:t>
            </a:r>
            <a:r>
              <a:rPr b="0" sz="937" i="0" u="none">
                <a:solidFill>
                  <a:srgbClr val="334155"/>
                </a:solidFill>
                <a:latin typeface="Plus Jakarta Sans"/>
              </a:rPr>
              <a:t> Pandas, NumPy, Parquet</a:t>
            </a:r>
          </a:p>
        </p:txBody>
      </p:sp>
      <p:sp>
        <p:nvSpPr>
          <p:cNvPr id="18" name="TextBox 17"/>
          <p:cNvSpPr txBox="1"/>
          <p:nvPr/>
        </p:nvSpPr>
        <p:spPr>
          <a:xfrm>
            <a:off x="657225" y="3887092"/>
            <a:ext cx="7715250" cy="152400"/>
          </a:xfrm>
          <a:prstGeom prst="rect">
            <a:avLst/>
          </a:prstGeom>
          <a:noFill/>
        </p:spPr>
        <p:txBody>
          <a:bodyPr wrap="none" lIns="0" rIns="0" tIns="0" bIns="0" anchor="t">
            <a:spAutoFit/>
          </a:bodyPr>
          <a:lstStyle/>
          <a:p>
            <a:pPr algn="l"/>
            <a:r>
              <a:rPr b="1" sz="937" i="0" u="none">
                <a:solidFill>
                  <a:srgbClr val="334155"/>
                </a:solidFill>
                <a:latin typeface="Plus Jakarta Sans"/>
              </a:rPr>
              <a:t>Backend Serving:</a:t>
            </a:r>
            <a:r>
              <a:rPr b="0" sz="937" i="0" u="none">
                <a:solidFill>
                  <a:srgbClr val="334155"/>
                </a:solidFill>
                <a:latin typeface="Plus Jakarta Sans"/>
              </a:rPr>
              <a:t> FastAPI, Uvicorn, Pydantic v2</a:t>
            </a:r>
          </a:p>
        </p:txBody>
      </p:sp>
      <p:sp>
        <p:nvSpPr>
          <p:cNvPr id="19" name="TextBox 18"/>
          <p:cNvSpPr txBox="1"/>
          <p:nvPr/>
        </p:nvSpPr>
        <p:spPr>
          <a:xfrm>
            <a:off x="657225" y="4115692"/>
            <a:ext cx="7715250" cy="152400"/>
          </a:xfrm>
          <a:prstGeom prst="rect">
            <a:avLst/>
          </a:prstGeom>
          <a:noFill/>
        </p:spPr>
        <p:txBody>
          <a:bodyPr wrap="none" lIns="0" rIns="0" tIns="0" bIns="0" anchor="t">
            <a:spAutoFit/>
          </a:bodyPr>
          <a:lstStyle/>
          <a:p>
            <a:pPr algn="l"/>
            <a:r>
              <a:rPr b="1" sz="937" i="0" u="none">
                <a:solidFill>
                  <a:srgbClr val="334155"/>
                </a:solidFill>
                <a:latin typeface="Plus Jakarta Sans"/>
              </a:rPr>
              <a:t>Analyst Frontend:</a:t>
            </a:r>
            <a:r>
              <a:rPr b="0" sz="937" i="0" u="none">
                <a:solidFill>
                  <a:srgbClr val="334155"/>
                </a:solidFill>
                <a:latin typeface="Plus Jakarta Sans"/>
              </a:rPr>
              <a:t> Streamlit, Requests</a:t>
            </a:r>
          </a:p>
        </p:txBody>
      </p:sp>
      <p:sp>
        <p:nvSpPr>
          <p:cNvPr id="20" name="TextBox 19"/>
          <p:cNvSpPr txBox="1"/>
          <p:nvPr/>
        </p:nvSpPr>
        <p:spPr>
          <a:xfrm>
            <a:off x="657225" y="4344292"/>
            <a:ext cx="7715250" cy="152400"/>
          </a:xfrm>
          <a:prstGeom prst="rect">
            <a:avLst/>
          </a:prstGeom>
          <a:noFill/>
        </p:spPr>
        <p:txBody>
          <a:bodyPr wrap="none" lIns="0" rIns="0" tIns="0" bIns="0" anchor="t">
            <a:spAutoFit/>
          </a:bodyPr>
          <a:lstStyle/>
          <a:p>
            <a:pPr algn="l"/>
            <a:r>
              <a:rPr b="1" sz="937" i="0" u="none">
                <a:solidFill>
                  <a:srgbClr val="334155"/>
                </a:solidFill>
                <a:latin typeface="Plus Jakarta Sans"/>
              </a:rPr>
              <a:t>Testing &amp; Environment:</a:t>
            </a:r>
            <a:r>
              <a:rPr b="0" sz="937" i="0" u="none">
                <a:solidFill>
                  <a:srgbClr val="334155"/>
                </a:solidFill>
                <a:latin typeface="Plus Jakarta Sans"/>
              </a:rPr>
              <a:t> Pytest, Python Venv, WatchFiles</a:t>
            </a:r>
          </a:p>
        </p:txBody>
      </p:sp>
      <p:sp>
        <p:nvSpPr>
          <p:cNvPr id="21" name="TextBox 20"/>
          <p:cNvSpPr txBox="1"/>
          <p:nvPr/>
        </p:nvSpPr>
        <p:spPr>
          <a:xfrm>
            <a:off x="7419975" y="3201292"/>
            <a:ext cx="4772025" cy="152400"/>
          </a:xfrm>
          <a:prstGeom prst="rect">
            <a:avLst/>
          </a:prstGeom>
          <a:noFill/>
        </p:spPr>
        <p:txBody>
          <a:bodyPr wrap="none" lIns="0" rIns="0" tIns="0" bIns="0" anchor="t">
            <a:spAutoFit/>
          </a:bodyPr>
          <a:lstStyle/>
          <a:p>
            <a:pPr algn="l"/>
            <a:r>
              <a:rPr b="1" sz="937" i="0" u="none">
                <a:solidFill>
                  <a:srgbClr val="334155"/>
                </a:solidFill>
                <a:latin typeface="Plus Jakarta Sans"/>
              </a:rPr>
              <a:t>Processor:</a:t>
            </a:r>
            <a:r>
              <a:rPr b="0" sz="937" i="0" u="none">
                <a:solidFill>
                  <a:srgbClr val="334155"/>
                </a:solidFill>
                <a:latin typeface="Plus Jakarta Sans"/>
              </a:rPr>
              <a:t> Intel Core i5 / AMD Ryzen 5+</a:t>
            </a:r>
          </a:p>
        </p:txBody>
      </p:sp>
      <p:sp>
        <p:nvSpPr>
          <p:cNvPr id="22" name="TextBox 21"/>
          <p:cNvSpPr txBox="1"/>
          <p:nvPr/>
        </p:nvSpPr>
        <p:spPr>
          <a:xfrm>
            <a:off x="7419975" y="3429892"/>
            <a:ext cx="4772025" cy="152400"/>
          </a:xfrm>
          <a:prstGeom prst="rect">
            <a:avLst/>
          </a:prstGeom>
          <a:noFill/>
        </p:spPr>
        <p:txBody>
          <a:bodyPr wrap="none" lIns="0" rIns="0" tIns="0" bIns="0" anchor="t">
            <a:spAutoFit/>
          </a:bodyPr>
          <a:lstStyle/>
          <a:p>
            <a:pPr algn="l"/>
            <a:r>
              <a:rPr b="1" sz="937" i="0" u="none">
                <a:solidFill>
                  <a:srgbClr val="334155"/>
                </a:solidFill>
                <a:latin typeface="Plus Jakarta Sans"/>
              </a:rPr>
              <a:t>Memory:</a:t>
            </a:r>
            <a:r>
              <a:rPr b="0" sz="937" i="0" u="none">
                <a:solidFill>
                  <a:srgbClr val="334155"/>
                </a:solidFill>
                <a:latin typeface="Plus Jakarta Sans"/>
              </a:rPr>
              <a:t> 16 GB DDR4 RAM</a:t>
            </a:r>
          </a:p>
        </p:txBody>
      </p:sp>
      <p:sp>
        <p:nvSpPr>
          <p:cNvPr id="23" name="TextBox 22"/>
          <p:cNvSpPr txBox="1"/>
          <p:nvPr/>
        </p:nvSpPr>
        <p:spPr>
          <a:xfrm>
            <a:off x="7419975" y="3658492"/>
            <a:ext cx="4772025" cy="152400"/>
          </a:xfrm>
          <a:prstGeom prst="rect">
            <a:avLst/>
          </a:prstGeom>
          <a:noFill/>
        </p:spPr>
        <p:txBody>
          <a:bodyPr wrap="none" lIns="0" rIns="0" tIns="0" bIns="0" anchor="t">
            <a:spAutoFit/>
          </a:bodyPr>
          <a:lstStyle/>
          <a:p>
            <a:pPr algn="l"/>
            <a:r>
              <a:rPr b="1" sz="937" i="0" u="none">
                <a:solidFill>
                  <a:srgbClr val="334155"/>
                </a:solidFill>
                <a:latin typeface="Plus Jakarta Sans"/>
              </a:rPr>
              <a:t>Storage:</a:t>
            </a:r>
            <a:r>
              <a:rPr b="0" sz="937" i="0" u="none">
                <a:solidFill>
                  <a:srgbClr val="334155"/>
                </a:solidFill>
                <a:latin typeface="Plus Jakarta Sans"/>
              </a:rPr>
              <a:t> NVMe SSD for fast model loading</a:t>
            </a:r>
          </a:p>
        </p:txBody>
      </p:sp>
      <p:sp>
        <p:nvSpPr>
          <p:cNvPr id="24" name="TextBox 23"/>
          <p:cNvSpPr txBox="1"/>
          <p:nvPr/>
        </p:nvSpPr>
        <p:spPr>
          <a:xfrm>
            <a:off x="7419975" y="3887092"/>
            <a:ext cx="4772025" cy="152400"/>
          </a:xfrm>
          <a:prstGeom prst="rect">
            <a:avLst/>
          </a:prstGeom>
          <a:noFill/>
        </p:spPr>
        <p:txBody>
          <a:bodyPr wrap="none" lIns="0" rIns="0" tIns="0" bIns="0" anchor="t">
            <a:spAutoFit/>
          </a:bodyPr>
          <a:lstStyle/>
          <a:p>
            <a:pPr algn="l"/>
            <a:r>
              <a:rPr b="1" sz="937" i="0" u="none">
                <a:solidFill>
                  <a:srgbClr val="334155"/>
                </a:solidFill>
                <a:latin typeface="Plus Jakarta Sans"/>
              </a:rPr>
              <a:t>IDE:</a:t>
            </a:r>
            <a:r>
              <a:rPr b="0" sz="937" i="0" u="none">
                <a:solidFill>
                  <a:srgbClr val="334155"/>
                </a:solidFill>
                <a:latin typeface="Plus Jakarta Sans"/>
              </a:rPr>
              <a:t> Visual Studio Code</a:t>
            </a:r>
          </a:p>
        </p:txBody>
      </p:sp>
      <p:sp>
        <p:nvSpPr>
          <p:cNvPr id="25" name="TextBox 24"/>
          <p:cNvSpPr txBox="1"/>
          <p:nvPr/>
        </p:nvSpPr>
        <p:spPr>
          <a:xfrm>
            <a:off x="7419975" y="4115692"/>
            <a:ext cx="4772025" cy="152400"/>
          </a:xfrm>
          <a:prstGeom prst="rect">
            <a:avLst/>
          </a:prstGeom>
          <a:noFill/>
        </p:spPr>
        <p:txBody>
          <a:bodyPr wrap="none" lIns="0" rIns="0" tIns="0" bIns="0" anchor="t">
            <a:spAutoFit/>
          </a:bodyPr>
          <a:lstStyle/>
          <a:p>
            <a:pPr algn="l"/>
            <a:r>
              <a:rPr b="1" sz="937" i="0" u="none">
                <a:solidFill>
                  <a:srgbClr val="334155"/>
                </a:solidFill>
                <a:latin typeface="Plus Jakarta Sans"/>
              </a:rPr>
              <a:t>Version Control:</a:t>
            </a:r>
            <a:r>
              <a:rPr b="0" sz="937" i="0" u="none">
                <a:solidFill>
                  <a:srgbClr val="334155"/>
                </a:solidFill>
                <a:latin typeface="Plus Jakarta Sans"/>
              </a:rPr>
              <a:t> Git &amp; GitHub Repository</a:t>
            </a:r>
          </a:p>
        </p:txBody>
      </p:sp>
      <p:sp>
        <p:nvSpPr>
          <p:cNvPr id="26" name="TextBox 25"/>
          <p:cNvSpPr txBox="1"/>
          <p:nvPr/>
        </p:nvSpPr>
        <p:spPr>
          <a:xfrm>
            <a:off x="7419975" y="4344292"/>
            <a:ext cx="4772025" cy="152400"/>
          </a:xfrm>
          <a:prstGeom prst="rect">
            <a:avLst/>
          </a:prstGeom>
          <a:noFill/>
        </p:spPr>
        <p:txBody>
          <a:bodyPr wrap="none" lIns="0" rIns="0" tIns="0" bIns="0" anchor="t">
            <a:spAutoFit/>
          </a:bodyPr>
          <a:lstStyle/>
          <a:p>
            <a:pPr algn="l"/>
            <a:r>
              <a:rPr b="1" sz="937" i="0" u="none">
                <a:solidFill>
                  <a:srgbClr val="334155"/>
                </a:solidFill>
                <a:latin typeface="Plus Jakarta Sans"/>
              </a:rPr>
              <a:t>Deployment Target:</a:t>
            </a:r>
            <a:r>
              <a:rPr b="0" sz="937" i="0" u="none">
                <a:solidFill>
                  <a:srgbClr val="334155"/>
                </a:solidFill>
                <a:latin typeface="Plus Jakarta Sans"/>
              </a:rPr>
              <a:t> Localhost / Container Docker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72200" y="2277367"/>
            <a:ext cx="5562600" cy="2790825"/>
          </a:xfrm>
          <a:prstGeom prst="roundRect">
            <a:avLst>
              <a:gd name="adj" fmla="val 2730"/>
            </a:avLst>
          </a:prstGeom>
          <a:no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191250" y="4811017"/>
            <a:ext cx="5524500" cy="23812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3154858"/>
            <a:ext cx="33803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37533" y="3154858"/>
            <a:ext cx="2144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490019"/>
            <a:ext cx="33803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37533" y="3490019"/>
            <a:ext cx="2144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3825180"/>
            <a:ext cx="33803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37533" y="3825180"/>
            <a:ext cx="2144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160341"/>
            <a:ext cx="33803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37533" y="4160341"/>
            <a:ext cx="2144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95502"/>
            <a:ext cx="33803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37533" y="4495502"/>
            <a:ext cx="2144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830663"/>
            <a:ext cx="33803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37533" y="4830663"/>
            <a:ext cx="21441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2"/>
          <a:stretch>
            <a:fillRect/>
          </a:stretch>
        </p:blipFill>
        <p:spPr>
          <a:xfrm>
            <a:off x="6191250" y="2296417"/>
            <a:ext cx="5524500" cy="2476500"/>
          </a:xfrm>
          <a:prstGeom prst="rect">
            <a:avLst/>
          </a:prstGeom>
        </p:spPr>
      </p:pic>
      <p:graphicFrame>
        <p:nvGraphicFramePr>
          <p:cNvPr id="19" name="Table 18"/>
          <p:cNvGraphicFramePr>
            <a:graphicFrameLocks noGrp="1"/>
          </p:cNvGraphicFramePr>
          <p:nvPr/>
        </p:nvGraphicFramePr>
        <p:xfrm>
          <a:off x="457200" y="2500610"/>
          <a:ext cx="5524499" cy="2344340"/>
        </p:xfrm>
        <a:graphic>
          <a:graphicData uri="http://schemas.openxmlformats.org/drawingml/2006/table">
            <a:tbl>
              <a:tblPr firstRow="0" bandRow="0">
                <a:lnL>
                  <a:noFill/>
                </a:lnL>
                <a:lnR>
                  <a:noFill/>
                </a:lnR>
                <a:lnT>
                  <a:noFill/>
                </a:lnT>
                <a:lnB>
                  <a:noFill/>
                </a:lnB>
                <a:lnV>
                  <a:noFill/>
                </a:lnV>
                <a:lnH>
                  <a:noFill/>
                </a:lnH>
              </a:tblPr>
              <a:tblGrid>
                <a:gridCol w="3380333"/>
                <a:gridCol w="2144166"/>
              </a:tblGrid>
              <a:tr h="334905">
                <a:tc>
                  <a:txBody>
                    <a:bodyPr/>
                    <a:lstStyle/>
                    <a:p>
                      <a:pPr algn="l"/>
                      <a:r>
                        <a:rPr b="1" sz="900" i="0" u="none">
                          <a:solidFill>
                            <a:srgbClr val="FFFFFF"/>
                          </a:solidFill>
                          <a:latin typeface="Plus Jakarta Sans"/>
                        </a:rPr>
                        <a:t>Phase / Component</a:t>
                      </a:r>
                    </a:p>
                  </a:txBody>
                  <a:tcPr anchor="ctr" marL="63500" marR="63500" marT="25400" marB="25400">
                    <a:lnL>
                      <a:noFill/>
                    </a:lnL>
                    <a:lnR>
                      <a:noFill/>
                    </a:lnR>
                    <a:lnT>
                      <a:noFill/>
                    </a:lnT>
                    <a:lnB>
                      <a:noFill/>
                    </a:lnB>
                    <a:solidFill>
                      <a:srgbClr val="8B1E23"/>
                    </a:solidFill>
                  </a:tcPr>
                </a:tc>
                <a:tc>
                  <a:txBody>
                    <a:bodyPr/>
                    <a:lstStyle/>
                    <a:p>
                      <a:pPr algn="l"/>
                      <a:r>
                        <a:rPr b="1" sz="900" i="0" u="none">
                          <a:solidFill>
                            <a:srgbClr val="FFFFFF"/>
                          </a:solidFill>
                          <a:latin typeface="Plus Jakarta Sans"/>
                        </a:rPr>
                        <a:t>Status</a:t>
                      </a:r>
                    </a:p>
                  </a:txBody>
                  <a:tcPr anchor="ctr" marL="63500" marR="63500" marT="25400" marB="25400">
                    <a:lnL>
                      <a:noFill/>
                    </a:lnL>
                    <a:lnR>
                      <a:noFill/>
                    </a:lnR>
                    <a:lnT>
                      <a:noFill/>
                    </a:lnT>
                    <a:lnB>
                      <a:noFill/>
                    </a:lnB>
                    <a:solidFill>
                      <a:srgbClr val="8B1E23"/>
                    </a:solidFill>
                  </a:tcPr>
                </a:tc>
              </a:tr>
              <a:tr h="334905">
                <a:tc>
                  <a:txBody>
                    <a:bodyPr/>
                    <a:lstStyle/>
                    <a:p>
                      <a:pPr algn="l"/>
                      <a:r>
                        <a:rPr b="0" sz="900" i="0" u="none">
                          <a:solidFill>
                            <a:srgbClr val="334155"/>
                          </a:solidFill>
                          <a:latin typeface="Plus Jakarta Sans"/>
                        </a:rPr>
                        <a:t>Literature Survey &amp; Problem Definition</a:t>
                      </a:r>
                    </a:p>
                  </a:txBody>
                  <a:tcPr anchor="ctr" marL="63500" marR="63500" marT="25400" marB="25400">
                    <a:lnL>
                      <a:noFill/>
                    </a:lnL>
                    <a:lnR>
                      <a:noFill/>
                    </a:lnR>
                    <a:lnT>
                      <a:noFill/>
                    </a:lnT>
                    <a:lnB>
                      <a:noFill/>
                    </a:lnB>
                    <a:solidFill>
                      <a:srgbClr val="FFFFFF"/>
                    </a:solidFill>
                  </a:tcPr>
                </a:tc>
                <a:tc>
                  <a:txBody>
                    <a:bodyPr/>
                    <a:lstStyle/>
                    <a:p>
                      <a:pPr algn="l"/>
                      <a:r>
                        <a:rPr b="1" sz="900" i="0" u="none">
                          <a:solidFill>
                            <a:srgbClr val="16A34A"/>
                          </a:solidFill>
                          <a:latin typeface="Plus Jakarta Sans"/>
                        </a:rPr>
                        <a:t>Completed</a:t>
                      </a:r>
                    </a:p>
                  </a:txBody>
                  <a:tcPr anchor="ctr" marL="63500" marR="63500" marT="25400" marB="25400">
                    <a:lnL>
                      <a:noFill/>
                    </a:lnL>
                    <a:lnR>
                      <a:noFill/>
                    </a:lnR>
                    <a:lnT>
                      <a:noFill/>
                    </a:lnT>
                    <a:lnB>
                      <a:noFill/>
                    </a:lnB>
                    <a:solidFill>
                      <a:srgbClr val="FFFFFF"/>
                    </a:solidFill>
                  </a:tcPr>
                </a:tc>
              </a:tr>
              <a:tr h="334905">
                <a:tc>
                  <a:txBody>
                    <a:bodyPr/>
                    <a:lstStyle/>
                    <a:p>
                      <a:pPr algn="l"/>
                      <a:r>
                        <a:rPr b="0" sz="900" i="0" u="none">
                          <a:solidFill>
                            <a:srgbClr val="334155"/>
                          </a:solidFill>
                          <a:latin typeface="Plus Jakarta Sans"/>
                        </a:rPr>
                        <a:t>NSL-KDD Ingestion &amp; Preprocessing</a:t>
                      </a:r>
                    </a:p>
                  </a:txBody>
                  <a:tcPr anchor="ctr" marL="63500" marR="63500" marT="25400" marB="25400">
                    <a:lnL>
                      <a:noFill/>
                    </a:lnL>
                    <a:lnR>
                      <a:noFill/>
                    </a:lnR>
                    <a:lnT>
                      <a:noFill/>
                    </a:lnT>
                    <a:lnB>
                      <a:noFill/>
                    </a:lnB>
                    <a:solidFill>
                      <a:srgbClr val="F8FAFC"/>
                    </a:solidFill>
                  </a:tcPr>
                </a:tc>
                <a:tc>
                  <a:txBody>
                    <a:bodyPr/>
                    <a:lstStyle/>
                    <a:p>
                      <a:pPr algn="l"/>
                      <a:r>
                        <a:rPr b="1" sz="900" i="0" u="none">
                          <a:solidFill>
                            <a:srgbClr val="16A34A"/>
                          </a:solidFill>
                          <a:latin typeface="Plus Jakarta Sans"/>
                        </a:rPr>
                        <a:t>Completed</a:t>
                      </a:r>
                    </a:p>
                  </a:txBody>
                  <a:tcPr anchor="ctr" marL="63500" marR="63500" marT="25400" marB="25400">
                    <a:lnL>
                      <a:noFill/>
                    </a:lnL>
                    <a:lnR>
                      <a:noFill/>
                    </a:lnR>
                    <a:lnT>
                      <a:noFill/>
                    </a:lnT>
                    <a:lnB>
                      <a:noFill/>
                    </a:lnB>
                    <a:solidFill>
                      <a:srgbClr val="F8FAFC"/>
                    </a:solidFill>
                  </a:tcPr>
                </a:tc>
              </a:tr>
              <a:tr h="334905">
                <a:tc>
                  <a:txBody>
                    <a:bodyPr/>
                    <a:lstStyle/>
                    <a:p>
                      <a:pPr algn="l"/>
                      <a:r>
                        <a:rPr b="0" sz="900" i="0" u="none">
                          <a:solidFill>
                            <a:srgbClr val="334155"/>
                          </a:solidFill>
                          <a:latin typeface="Plus Jakarta Sans"/>
                        </a:rPr>
                        <a:t>PCA Reduction &amp; Unsupervised Models</a:t>
                      </a:r>
                    </a:p>
                  </a:txBody>
                  <a:tcPr anchor="ctr" marL="63500" marR="63500" marT="25400" marB="25400">
                    <a:lnL>
                      <a:noFill/>
                    </a:lnL>
                    <a:lnR>
                      <a:noFill/>
                    </a:lnR>
                    <a:lnT>
                      <a:noFill/>
                    </a:lnT>
                    <a:lnB>
                      <a:noFill/>
                    </a:lnB>
                    <a:solidFill>
                      <a:srgbClr val="FFFFFF"/>
                    </a:solidFill>
                  </a:tcPr>
                </a:tc>
                <a:tc>
                  <a:txBody>
                    <a:bodyPr/>
                    <a:lstStyle/>
                    <a:p>
                      <a:pPr algn="l"/>
                      <a:r>
                        <a:rPr b="1" sz="900" i="0" u="none">
                          <a:solidFill>
                            <a:srgbClr val="16A34A"/>
                          </a:solidFill>
                          <a:latin typeface="Plus Jakarta Sans"/>
                        </a:rPr>
                        <a:t>Completed</a:t>
                      </a:r>
                    </a:p>
                  </a:txBody>
                  <a:tcPr anchor="ctr" marL="63500" marR="63500" marT="25400" marB="25400">
                    <a:lnL>
                      <a:noFill/>
                    </a:lnL>
                    <a:lnR>
                      <a:noFill/>
                    </a:lnR>
                    <a:lnT>
                      <a:noFill/>
                    </a:lnT>
                    <a:lnB>
                      <a:noFill/>
                    </a:lnB>
                    <a:solidFill>
                      <a:srgbClr val="FFFFFF"/>
                    </a:solidFill>
                  </a:tcPr>
                </a:tc>
              </a:tr>
              <a:tr h="334905">
                <a:tc>
                  <a:txBody>
                    <a:bodyPr/>
                    <a:lstStyle/>
                    <a:p>
                      <a:pPr algn="l"/>
                      <a:r>
                        <a:rPr b="0" sz="900" i="0" u="none">
                          <a:solidFill>
                            <a:srgbClr val="334155"/>
                          </a:solidFill>
                          <a:latin typeface="Plus Jakarta Sans"/>
                        </a:rPr>
                        <a:t>Binary &amp; Multiclass Model Training</a:t>
                      </a:r>
                    </a:p>
                  </a:txBody>
                  <a:tcPr anchor="ctr" marL="63500" marR="63500" marT="25400" marB="25400">
                    <a:lnL>
                      <a:noFill/>
                    </a:lnL>
                    <a:lnR>
                      <a:noFill/>
                    </a:lnR>
                    <a:lnT>
                      <a:noFill/>
                    </a:lnT>
                    <a:lnB>
                      <a:noFill/>
                    </a:lnB>
                    <a:solidFill>
                      <a:srgbClr val="F8FAFC"/>
                    </a:solidFill>
                  </a:tcPr>
                </a:tc>
                <a:tc>
                  <a:txBody>
                    <a:bodyPr/>
                    <a:lstStyle/>
                    <a:p>
                      <a:pPr algn="l"/>
                      <a:r>
                        <a:rPr b="1" sz="900" i="0" u="none">
                          <a:solidFill>
                            <a:srgbClr val="16A34A"/>
                          </a:solidFill>
                          <a:latin typeface="Plus Jakarta Sans"/>
                        </a:rPr>
                        <a:t>Completed</a:t>
                      </a:r>
                    </a:p>
                  </a:txBody>
                  <a:tcPr anchor="ctr" marL="63500" marR="63500" marT="25400" marB="25400">
                    <a:lnL>
                      <a:noFill/>
                    </a:lnL>
                    <a:lnR>
                      <a:noFill/>
                    </a:lnR>
                    <a:lnT>
                      <a:noFill/>
                    </a:lnT>
                    <a:lnB>
                      <a:noFill/>
                    </a:lnB>
                    <a:solidFill>
                      <a:srgbClr val="F8FAFC"/>
                    </a:solidFill>
                  </a:tcPr>
                </a:tc>
              </a:tr>
              <a:tr h="334905">
                <a:tc>
                  <a:txBody>
                    <a:bodyPr/>
                    <a:lstStyle/>
                    <a:p>
                      <a:pPr algn="l"/>
                      <a:r>
                        <a:rPr b="0" sz="900" i="0" u="none">
                          <a:solidFill>
                            <a:srgbClr val="334155"/>
                          </a:solidFill>
                          <a:latin typeface="Plus Jakarta Sans"/>
                        </a:rPr>
                        <a:t>FastAPI Microservice (Ports 8000)</a:t>
                      </a:r>
                    </a:p>
                  </a:txBody>
                  <a:tcPr anchor="ctr" marL="63500" marR="63500" marT="25400" marB="25400">
                    <a:lnL>
                      <a:noFill/>
                    </a:lnL>
                    <a:lnR>
                      <a:noFill/>
                    </a:lnR>
                    <a:lnT>
                      <a:noFill/>
                    </a:lnT>
                    <a:lnB>
                      <a:noFill/>
                    </a:lnB>
                    <a:solidFill>
                      <a:srgbClr val="FFFFFF"/>
                    </a:solidFill>
                  </a:tcPr>
                </a:tc>
                <a:tc>
                  <a:txBody>
                    <a:bodyPr/>
                    <a:lstStyle/>
                    <a:p>
                      <a:pPr algn="l"/>
                      <a:r>
                        <a:rPr b="1" sz="900" i="0" u="none">
                          <a:solidFill>
                            <a:srgbClr val="16A34A"/>
                          </a:solidFill>
                          <a:latin typeface="Plus Jakarta Sans"/>
                        </a:rPr>
                        <a:t>Completed</a:t>
                      </a:r>
                    </a:p>
                  </a:txBody>
                  <a:tcPr anchor="ctr" marL="63500" marR="63500" marT="25400" marB="25400">
                    <a:lnL>
                      <a:noFill/>
                    </a:lnL>
                    <a:lnR>
                      <a:noFill/>
                    </a:lnR>
                    <a:lnT>
                      <a:noFill/>
                    </a:lnT>
                    <a:lnB>
                      <a:noFill/>
                    </a:lnB>
                    <a:solidFill>
                      <a:srgbClr val="FFFFFF"/>
                    </a:solidFill>
                  </a:tcPr>
                </a:tc>
              </a:tr>
              <a:tr h="334910">
                <a:tc>
                  <a:txBody>
                    <a:bodyPr/>
                    <a:lstStyle/>
                    <a:p>
                      <a:pPr algn="l"/>
                      <a:r>
                        <a:rPr b="0" sz="900" i="0" u="none">
                          <a:solidFill>
                            <a:srgbClr val="334155"/>
                          </a:solidFill>
                          <a:latin typeface="Plus Jakarta Sans"/>
                        </a:rPr>
                        <a:t>Streamlit Security Dashboard (Port 8501)</a:t>
                      </a:r>
                    </a:p>
                  </a:txBody>
                  <a:tcPr anchor="ctr" marL="63500" marR="63500" marT="25400" marB="25400">
                    <a:lnL>
                      <a:noFill/>
                    </a:lnL>
                    <a:lnR>
                      <a:noFill/>
                    </a:lnR>
                    <a:lnT>
                      <a:noFill/>
                    </a:lnT>
                    <a:lnB>
                      <a:noFill/>
                    </a:lnB>
                    <a:solidFill>
                      <a:srgbClr val="F8FAFC"/>
                    </a:solidFill>
                  </a:tcPr>
                </a:tc>
                <a:tc>
                  <a:txBody>
                    <a:bodyPr/>
                    <a:lstStyle/>
                    <a:p>
                      <a:pPr algn="l"/>
                      <a:r>
                        <a:rPr b="1" sz="900" i="0" u="none">
                          <a:solidFill>
                            <a:srgbClr val="16A34A"/>
                          </a:solidFill>
                          <a:latin typeface="Plus Jakarta Sans"/>
                        </a:rPr>
                        <a:t>Completed (Demo Live)</a:t>
                      </a:r>
                    </a:p>
                  </a:txBody>
                  <a:tcPr anchor="ctr" marL="63500" marR="63500" marT="25400" marB="25400">
                    <a:lnL>
                      <a:noFill/>
                    </a:lnL>
                    <a:lnR>
                      <a:noFill/>
                    </a:lnR>
                    <a:lnT>
                      <a:noFill/>
                    </a:lnT>
                    <a:lnB>
                      <a:noFill/>
                    </a:lnB>
                    <a:solidFill>
                      <a:srgbClr val="F8FAFC"/>
                    </a:solidFill>
                  </a:tcPr>
                </a:tc>
              </a:tr>
            </a:tbl>
          </a:graphicData>
        </a:graphic>
      </p:graphicFrame>
      <p:sp>
        <p:nvSpPr>
          <p:cNvPr id="20" name="TextBox 19"/>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21" name="TextBox 20"/>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22" name="TextBox 21"/>
          <p:cNvSpPr txBox="1"/>
          <p:nvPr/>
        </p:nvSpPr>
        <p:spPr>
          <a:xfrm>
            <a:off x="11344275" y="6562725"/>
            <a:ext cx="676275" cy="142875"/>
          </a:xfrm>
          <a:prstGeom prst="rect">
            <a:avLst/>
          </a:prstGeom>
          <a:noFill/>
        </p:spPr>
        <p:txBody>
          <a:bodyPr wrap="none" lIns="0" rIns="0" tIns="0" bIns="0" anchor="t">
            <a:spAutoFit/>
          </a:bodyPr>
          <a:lstStyle/>
          <a:p>
            <a:pPr algn="l"/>
            <a:r>
              <a:rPr b="1" sz="900" i="0" u="none">
                <a:solidFill>
                  <a:srgbClr val="64748B"/>
                </a:solidFill>
                <a:latin typeface="Plus Jakarta Sans"/>
              </a:rPr>
              <a:t>Slide 11</a:t>
            </a:r>
          </a:p>
        </p:txBody>
      </p:sp>
      <p:sp>
        <p:nvSpPr>
          <p:cNvPr id="23" name="TextBox 22"/>
          <p:cNvSpPr txBox="1"/>
          <p:nvPr/>
        </p:nvSpPr>
        <p:spPr>
          <a:xfrm>
            <a:off x="457200" y="266700"/>
            <a:ext cx="4572000"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9</a:t>
            </a:r>
          </a:p>
        </p:txBody>
      </p:sp>
      <p:sp>
        <p:nvSpPr>
          <p:cNvPr id="24" name="TextBox 23"/>
          <p:cNvSpPr txBox="1"/>
          <p:nvPr/>
        </p:nvSpPr>
        <p:spPr>
          <a:xfrm>
            <a:off x="457200" y="457200"/>
            <a:ext cx="4800600"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Work Completed &amp; Live Demo</a:t>
            </a:r>
          </a:p>
        </p:txBody>
      </p:sp>
      <p:sp>
        <p:nvSpPr>
          <p:cNvPr id="25" name="TextBox 24"/>
          <p:cNvSpPr txBox="1"/>
          <p:nvPr/>
        </p:nvSpPr>
        <p:spPr>
          <a:xfrm>
            <a:off x="5636418" y="4868167"/>
            <a:ext cx="6634162" cy="123825"/>
          </a:xfrm>
          <a:prstGeom prst="rect">
            <a:avLst/>
          </a:prstGeom>
          <a:noFill/>
        </p:spPr>
        <p:txBody>
          <a:bodyPr wrap="square" lIns="0" rIns="0" tIns="0" bIns="0" anchor="t">
            <a:spAutoFit/>
          </a:bodyPr>
          <a:lstStyle/>
          <a:p>
            <a:pPr algn="ctr"/>
            <a:r>
              <a:rPr b="1" sz="825" i="0" u="none">
                <a:solidFill>
                  <a:srgbClr val="64748B"/>
                </a:solidFill>
                <a:latin typeface="Plus Jakarta Sans"/>
              </a:rPr>
              <a:t>Live Streamlit Dashboard: Packet verified as "Normal" with 100.00% confidence.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913608"/>
            <a:ext cx="2719387" cy="1518195"/>
          </a:xfrm>
          <a:prstGeom prst="roundRect">
            <a:avLst>
              <a:gd name="adj" fmla="val 501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309937" y="2913608"/>
            <a:ext cx="2719387" cy="1518195"/>
          </a:xfrm>
          <a:prstGeom prst="roundRect">
            <a:avLst>
              <a:gd name="adj" fmla="val 5019"/>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62675" y="2913608"/>
            <a:ext cx="2719387" cy="1518195"/>
          </a:xfrm>
          <a:prstGeom prst="roundRect">
            <a:avLst>
              <a:gd name="adj" fmla="val 501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15412" y="2913608"/>
            <a:ext cx="2719387" cy="1518195"/>
          </a:xfrm>
          <a:prstGeom prst="roundRect">
            <a:avLst>
              <a:gd name="adj" fmla="val 501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4422278"/>
            <a:ext cx="271938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913608"/>
            <a:ext cx="2719387"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913608"/>
            <a:ext cx="9525" cy="15181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67062" y="2913608"/>
            <a:ext cx="9525" cy="15181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09937" y="4422278"/>
            <a:ext cx="271938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09937" y="2913608"/>
            <a:ext cx="2719387" cy="38100"/>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09937" y="2913608"/>
            <a:ext cx="9525" cy="15181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19800" y="2913608"/>
            <a:ext cx="9525" cy="15181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2675" y="4422278"/>
            <a:ext cx="271938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62675" y="2913608"/>
            <a:ext cx="2719387"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2675" y="2913608"/>
            <a:ext cx="9525" cy="15181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72537" y="2913608"/>
            <a:ext cx="9525" cy="15181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412" y="4422278"/>
            <a:ext cx="271938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15412" y="2913608"/>
            <a:ext cx="2719387"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15412" y="2913608"/>
            <a:ext cx="9525" cy="15181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25275" y="2913608"/>
            <a:ext cx="9525" cy="15181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2"/>
          <a:stretch>
            <a:fillRect/>
          </a:stretch>
        </p:blipFill>
        <p:spPr>
          <a:xfrm>
            <a:off x="657225" y="3986063"/>
            <a:ext cx="95250" cy="104775"/>
          </a:xfrm>
          <a:prstGeom prst="rect">
            <a:avLst/>
          </a:prstGeom>
        </p:spPr>
      </p:pic>
      <p:pic>
        <p:nvPicPr>
          <p:cNvPr id="25" name="Picture 24" descr="image.png"/>
          <p:cNvPicPr>
            <a:picLocks noChangeAspect="1"/>
          </p:cNvPicPr>
          <p:nvPr/>
        </p:nvPicPr>
        <p:blipFill>
          <a:blip r:embed="rId3"/>
          <a:stretch>
            <a:fillRect/>
          </a:stretch>
        </p:blipFill>
        <p:spPr>
          <a:xfrm>
            <a:off x="3509962" y="3986063"/>
            <a:ext cx="104775" cy="104775"/>
          </a:xfrm>
          <a:prstGeom prst="rect">
            <a:avLst/>
          </a:prstGeom>
        </p:spPr>
      </p:pic>
      <p:pic>
        <p:nvPicPr>
          <p:cNvPr id="26" name="Picture 25" descr="image.png"/>
          <p:cNvPicPr>
            <a:picLocks noChangeAspect="1"/>
          </p:cNvPicPr>
          <p:nvPr/>
        </p:nvPicPr>
        <p:blipFill>
          <a:blip r:embed="rId4"/>
          <a:stretch>
            <a:fillRect/>
          </a:stretch>
        </p:blipFill>
        <p:spPr>
          <a:xfrm>
            <a:off x="6362700" y="4146053"/>
            <a:ext cx="104775" cy="104775"/>
          </a:xfrm>
          <a:prstGeom prst="rect">
            <a:avLst/>
          </a:prstGeom>
        </p:spPr>
      </p:pic>
      <p:pic>
        <p:nvPicPr>
          <p:cNvPr id="27" name="Picture 26" descr="image.png"/>
          <p:cNvPicPr>
            <a:picLocks noChangeAspect="1"/>
          </p:cNvPicPr>
          <p:nvPr/>
        </p:nvPicPr>
        <p:blipFill>
          <a:blip r:embed="rId5"/>
          <a:stretch>
            <a:fillRect/>
          </a:stretch>
        </p:blipFill>
        <p:spPr>
          <a:xfrm>
            <a:off x="9215437" y="4146053"/>
            <a:ext cx="104775" cy="104775"/>
          </a:xfrm>
          <a:prstGeom prst="rect">
            <a:avLst/>
          </a:prstGeom>
        </p:spPr>
      </p:pic>
      <p:sp>
        <p:nvSpPr>
          <p:cNvPr id="28" name="TextBox 27"/>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29" name="TextBox 28"/>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30" name="TextBox 29"/>
          <p:cNvSpPr txBox="1"/>
          <p:nvPr/>
        </p:nvSpPr>
        <p:spPr>
          <a:xfrm>
            <a:off x="11325225" y="6562725"/>
            <a:ext cx="695325" cy="142875"/>
          </a:xfrm>
          <a:prstGeom prst="rect">
            <a:avLst/>
          </a:prstGeom>
          <a:noFill/>
        </p:spPr>
        <p:txBody>
          <a:bodyPr wrap="none" lIns="0" rIns="0" tIns="0" bIns="0" anchor="t">
            <a:spAutoFit/>
          </a:bodyPr>
          <a:lstStyle/>
          <a:p>
            <a:pPr algn="l"/>
            <a:r>
              <a:rPr b="1" sz="900" i="0" u="none">
                <a:solidFill>
                  <a:srgbClr val="64748B"/>
                </a:solidFill>
                <a:latin typeface="Plus Jakarta Sans"/>
              </a:rPr>
              <a:t>Slide 12</a:t>
            </a:r>
          </a:p>
        </p:txBody>
      </p:sp>
      <p:sp>
        <p:nvSpPr>
          <p:cNvPr id="31" name="TextBox 30"/>
          <p:cNvSpPr txBox="1"/>
          <p:nvPr/>
        </p:nvSpPr>
        <p:spPr>
          <a:xfrm>
            <a:off x="457200" y="266700"/>
            <a:ext cx="3476625"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10</a:t>
            </a:r>
          </a:p>
        </p:txBody>
      </p:sp>
      <p:sp>
        <p:nvSpPr>
          <p:cNvPr id="32" name="TextBox 31"/>
          <p:cNvSpPr txBox="1"/>
          <p:nvPr/>
        </p:nvSpPr>
        <p:spPr>
          <a:xfrm>
            <a:off x="457200" y="457200"/>
            <a:ext cx="3650456"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Timeline &amp; Review Plan</a:t>
            </a:r>
          </a:p>
        </p:txBody>
      </p:sp>
      <p:sp>
        <p:nvSpPr>
          <p:cNvPr id="33" name="TextBox 32"/>
          <p:cNvSpPr txBox="1"/>
          <p:nvPr/>
        </p:nvSpPr>
        <p:spPr>
          <a:xfrm>
            <a:off x="657225" y="3123158"/>
            <a:ext cx="2899171" cy="142875"/>
          </a:xfrm>
          <a:prstGeom prst="rect">
            <a:avLst/>
          </a:prstGeom>
          <a:noFill/>
        </p:spPr>
        <p:txBody>
          <a:bodyPr wrap="none" lIns="0" rIns="0" tIns="0" bIns="0" anchor="t">
            <a:spAutoFit/>
          </a:bodyPr>
          <a:lstStyle/>
          <a:p>
            <a:pPr algn="l"/>
            <a:r>
              <a:rPr b="1" sz="900" i="0" u="none">
                <a:solidFill>
                  <a:srgbClr val="16A34A"/>
                </a:solidFill>
                <a:latin typeface="Plus Jakarta Sans"/>
              </a:rPr>
              <a:t>REVIEW 0 • WEEK 2</a:t>
            </a:r>
          </a:p>
        </p:txBody>
      </p:sp>
      <p:sp>
        <p:nvSpPr>
          <p:cNvPr id="34" name="TextBox 33"/>
          <p:cNvSpPr txBox="1"/>
          <p:nvPr/>
        </p:nvSpPr>
        <p:spPr>
          <a:xfrm>
            <a:off x="657225" y="3304133"/>
            <a:ext cx="3044130" cy="171450"/>
          </a:xfrm>
          <a:prstGeom prst="rect">
            <a:avLst/>
          </a:prstGeom>
          <a:noFill/>
        </p:spPr>
        <p:txBody>
          <a:bodyPr wrap="none" lIns="0" rIns="0" tIns="0" bIns="0" anchor="t">
            <a:spAutoFit/>
          </a:bodyPr>
          <a:lstStyle/>
          <a:p>
            <a:pPr algn="l"/>
            <a:r>
              <a:rPr b="1" sz="1050" i="0" u="none">
                <a:solidFill>
                  <a:srgbClr val="0F172A"/>
                </a:solidFill>
                <a:latin typeface="Plus Jakarta Sans"/>
              </a:rPr>
              <a:t>Topic Finalization</a:t>
            </a:r>
          </a:p>
        </p:txBody>
      </p:sp>
      <p:sp>
        <p:nvSpPr>
          <p:cNvPr id="35" name="TextBox 34"/>
          <p:cNvSpPr txBox="1"/>
          <p:nvPr/>
        </p:nvSpPr>
        <p:spPr>
          <a:xfrm>
            <a:off x="657225" y="3532733"/>
            <a:ext cx="2414587" cy="319980"/>
          </a:xfrm>
          <a:prstGeom prst="rect">
            <a:avLst/>
          </a:prstGeom>
          <a:noFill/>
        </p:spPr>
        <p:txBody>
          <a:bodyPr wrap="square" lIns="0" rIns="0" tIns="0" bIns="0" anchor="t">
            <a:spAutoFit/>
          </a:bodyPr>
          <a:lstStyle/>
          <a:p>
            <a:pPr algn="l">
              <a:lnSpc>
                <a:spcPts val="1260"/>
              </a:lnSpc>
            </a:pPr>
            <a:r>
              <a:rPr b="0" sz="900" i="0" u="none">
                <a:solidFill>
                  <a:srgbClr val="64748B"/>
                </a:solidFill>
                <a:latin typeface="Plus Jakarta Sans"/>
              </a:rPr>
              <a:t>Domain selection, NSL-KDD dataset acquisition, and team role distribution.</a:t>
            </a:r>
          </a:p>
        </p:txBody>
      </p:sp>
      <p:sp>
        <p:nvSpPr>
          <p:cNvPr id="36" name="TextBox 35"/>
          <p:cNvSpPr txBox="1"/>
          <p:nvPr/>
        </p:nvSpPr>
        <p:spPr>
          <a:xfrm>
            <a:off x="657225" y="3967013"/>
            <a:ext cx="2899171" cy="123825"/>
          </a:xfrm>
          <a:prstGeom prst="rect">
            <a:avLst/>
          </a:prstGeom>
          <a:noFill/>
        </p:spPr>
        <p:txBody>
          <a:bodyPr wrap="none" lIns="95250" rIns="0" tIns="0" bIns="0" anchor="t">
            <a:spAutoFit/>
          </a:bodyPr>
          <a:lstStyle/>
          <a:p>
            <a:pPr algn="l"/>
            <a:r>
              <a:rPr b="1" sz="825" i="0" u="none">
                <a:solidFill>
                  <a:srgbClr val="16A34A"/>
                </a:solidFill>
                <a:latin typeface="Plus Jakarta Sans"/>
              </a:rPr>
              <a:t>Completed</a:t>
            </a:r>
          </a:p>
        </p:txBody>
      </p:sp>
      <p:sp>
        <p:nvSpPr>
          <p:cNvPr id="37" name="TextBox 36"/>
          <p:cNvSpPr txBox="1"/>
          <p:nvPr/>
        </p:nvSpPr>
        <p:spPr>
          <a:xfrm>
            <a:off x="3509962" y="3123158"/>
            <a:ext cx="2899171" cy="142875"/>
          </a:xfrm>
          <a:prstGeom prst="rect">
            <a:avLst/>
          </a:prstGeom>
          <a:noFill/>
        </p:spPr>
        <p:txBody>
          <a:bodyPr wrap="none" lIns="0" rIns="0" tIns="0" bIns="0" anchor="t">
            <a:spAutoFit/>
          </a:bodyPr>
          <a:lstStyle/>
          <a:p>
            <a:pPr algn="l"/>
            <a:r>
              <a:rPr b="1" sz="900" i="0" u="none">
                <a:solidFill>
                  <a:srgbClr val="8B1E23"/>
                </a:solidFill>
                <a:latin typeface="Plus Jakarta Sans"/>
              </a:rPr>
              <a:t>REVIEW 1 • WEEK 5</a:t>
            </a:r>
          </a:p>
        </p:txBody>
      </p:sp>
      <p:sp>
        <p:nvSpPr>
          <p:cNvPr id="38" name="TextBox 37"/>
          <p:cNvSpPr txBox="1"/>
          <p:nvPr/>
        </p:nvSpPr>
        <p:spPr>
          <a:xfrm>
            <a:off x="3509962" y="3304133"/>
            <a:ext cx="3044130" cy="171450"/>
          </a:xfrm>
          <a:prstGeom prst="rect">
            <a:avLst/>
          </a:prstGeom>
          <a:noFill/>
        </p:spPr>
        <p:txBody>
          <a:bodyPr wrap="none" lIns="0" rIns="0" tIns="0" bIns="0" anchor="t">
            <a:spAutoFit/>
          </a:bodyPr>
          <a:lstStyle/>
          <a:p>
            <a:pPr algn="l"/>
            <a:r>
              <a:rPr b="1" sz="1050" i="0" u="none">
                <a:solidFill>
                  <a:srgbClr val="0F172A"/>
                </a:solidFill>
                <a:latin typeface="Plus Jakarta Sans"/>
              </a:rPr>
              <a:t>Survey &amp; Prototype</a:t>
            </a:r>
          </a:p>
        </p:txBody>
      </p:sp>
      <p:sp>
        <p:nvSpPr>
          <p:cNvPr id="39" name="TextBox 38"/>
          <p:cNvSpPr txBox="1"/>
          <p:nvPr/>
        </p:nvSpPr>
        <p:spPr>
          <a:xfrm>
            <a:off x="3509962" y="3532733"/>
            <a:ext cx="2414587" cy="319980"/>
          </a:xfrm>
          <a:prstGeom prst="rect">
            <a:avLst/>
          </a:prstGeom>
          <a:noFill/>
        </p:spPr>
        <p:txBody>
          <a:bodyPr wrap="square" lIns="0" rIns="0" tIns="0" bIns="0" anchor="t">
            <a:spAutoFit/>
          </a:bodyPr>
          <a:lstStyle/>
          <a:p>
            <a:pPr algn="l">
              <a:lnSpc>
                <a:spcPts val="1260"/>
              </a:lnSpc>
            </a:pPr>
            <a:r>
              <a:rPr b="0" sz="900" i="0" u="none">
                <a:solidFill>
                  <a:srgbClr val="64748B"/>
                </a:solidFill>
                <a:latin typeface="Plus Jakarta Sans"/>
              </a:rPr>
              <a:t>Literature survey, architecture design, ML training &amp; running FastAPI/Streamlit demo.</a:t>
            </a:r>
          </a:p>
        </p:txBody>
      </p:sp>
      <p:sp>
        <p:nvSpPr>
          <p:cNvPr id="40" name="TextBox 39"/>
          <p:cNvSpPr txBox="1"/>
          <p:nvPr/>
        </p:nvSpPr>
        <p:spPr>
          <a:xfrm>
            <a:off x="3509962" y="3967013"/>
            <a:ext cx="2899171" cy="123825"/>
          </a:xfrm>
          <a:prstGeom prst="rect">
            <a:avLst/>
          </a:prstGeom>
          <a:noFill/>
        </p:spPr>
        <p:txBody>
          <a:bodyPr wrap="none" lIns="104775" rIns="0" tIns="0" bIns="0" anchor="t">
            <a:spAutoFit/>
          </a:bodyPr>
          <a:lstStyle/>
          <a:p>
            <a:pPr algn="l"/>
            <a:r>
              <a:rPr b="1" sz="825" i="0" u="none">
                <a:solidFill>
                  <a:srgbClr val="C2410C"/>
                </a:solidFill>
                <a:latin typeface="Plus Jakarta Sans"/>
              </a:rPr>
              <a:t>Current Milestone</a:t>
            </a:r>
          </a:p>
        </p:txBody>
      </p:sp>
      <p:sp>
        <p:nvSpPr>
          <p:cNvPr id="41" name="TextBox 40"/>
          <p:cNvSpPr txBox="1"/>
          <p:nvPr/>
        </p:nvSpPr>
        <p:spPr>
          <a:xfrm>
            <a:off x="6362700" y="3123158"/>
            <a:ext cx="2899171" cy="142875"/>
          </a:xfrm>
          <a:prstGeom prst="rect">
            <a:avLst/>
          </a:prstGeom>
          <a:noFill/>
        </p:spPr>
        <p:txBody>
          <a:bodyPr wrap="none" lIns="0" rIns="0" tIns="0" bIns="0" anchor="t">
            <a:spAutoFit/>
          </a:bodyPr>
          <a:lstStyle/>
          <a:p>
            <a:pPr algn="l"/>
            <a:r>
              <a:rPr b="1" sz="900" i="0" u="none">
                <a:solidFill>
                  <a:srgbClr val="64748B"/>
                </a:solidFill>
                <a:latin typeface="Plus Jakarta Sans"/>
              </a:rPr>
              <a:t>REVIEW 2 • WEEK 9</a:t>
            </a:r>
          </a:p>
        </p:txBody>
      </p:sp>
      <p:sp>
        <p:nvSpPr>
          <p:cNvPr id="42" name="TextBox 41"/>
          <p:cNvSpPr txBox="1"/>
          <p:nvPr/>
        </p:nvSpPr>
        <p:spPr>
          <a:xfrm>
            <a:off x="6362700" y="3304133"/>
            <a:ext cx="3044130" cy="171450"/>
          </a:xfrm>
          <a:prstGeom prst="rect">
            <a:avLst/>
          </a:prstGeom>
          <a:noFill/>
        </p:spPr>
        <p:txBody>
          <a:bodyPr wrap="none" lIns="0" rIns="0" tIns="0" bIns="0" anchor="t">
            <a:spAutoFit/>
          </a:bodyPr>
          <a:lstStyle/>
          <a:p>
            <a:pPr algn="l"/>
            <a:r>
              <a:rPr b="1" sz="1050" i="0" u="none">
                <a:solidFill>
                  <a:srgbClr val="0F172A"/>
                </a:solidFill>
                <a:latin typeface="Plus Jakarta Sans"/>
              </a:rPr>
              <a:t>Optimization &amp; Drift</a:t>
            </a:r>
          </a:p>
        </p:txBody>
      </p:sp>
      <p:sp>
        <p:nvSpPr>
          <p:cNvPr id="43" name="TextBox 42"/>
          <p:cNvSpPr txBox="1"/>
          <p:nvPr/>
        </p:nvSpPr>
        <p:spPr>
          <a:xfrm>
            <a:off x="6362700" y="3532733"/>
            <a:ext cx="2414587" cy="479970"/>
          </a:xfrm>
          <a:prstGeom prst="rect">
            <a:avLst/>
          </a:prstGeom>
          <a:noFill/>
        </p:spPr>
        <p:txBody>
          <a:bodyPr wrap="square" lIns="0" rIns="0" tIns="0" bIns="0" anchor="t">
            <a:spAutoFit/>
          </a:bodyPr>
          <a:lstStyle/>
          <a:p>
            <a:pPr algn="l">
              <a:lnSpc>
                <a:spcPts val="1260"/>
              </a:lnSpc>
            </a:pPr>
            <a:r>
              <a:rPr b="0" sz="900" i="0" u="none">
                <a:solidFill>
                  <a:srgbClr val="64748B"/>
                </a:solidFill>
                <a:latin typeface="Plus Jakarta Sans"/>
              </a:rPr>
              <a:t>Drift endpoint automation, McNemar statistical testing, and batch payload benchmarking.</a:t>
            </a:r>
          </a:p>
        </p:txBody>
      </p:sp>
      <p:sp>
        <p:nvSpPr>
          <p:cNvPr id="44" name="TextBox 43"/>
          <p:cNvSpPr txBox="1"/>
          <p:nvPr/>
        </p:nvSpPr>
        <p:spPr>
          <a:xfrm>
            <a:off x="6362700" y="4127003"/>
            <a:ext cx="2899171" cy="123825"/>
          </a:xfrm>
          <a:prstGeom prst="rect">
            <a:avLst/>
          </a:prstGeom>
          <a:noFill/>
        </p:spPr>
        <p:txBody>
          <a:bodyPr wrap="none" lIns="104775" rIns="0" tIns="0" bIns="0" anchor="t">
            <a:spAutoFit/>
          </a:bodyPr>
          <a:lstStyle/>
          <a:p>
            <a:pPr algn="l"/>
            <a:r>
              <a:rPr b="1" sz="825" i="0" u="none">
                <a:solidFill>
                  <a:srgbClr val="0F172A"/>
                </a:solidFill>
                <a:latin typeface="Plus Jakarta Sans"/>
              </a:rPr>
              <a:t>Planned</a:t>
            </a:r>
          </a:p>
        </p:txBody>
      </p:sp>
      <p:sp>
        <p:nvSpPr>
          <p:cNvPr id="45" name="TextBox 44"/>
          <p:cNvSpPr txBox="1"/>
          <p:nvPr/>
        </p:nvSpPr>
        <p:spPr>
          <a:xfrm>
            <a:off x="9215437" y="3123158"/>
            <a:ext cx="2899171" cy="142875"/>
          </a:xfrm>
          <a:prstGeom prst="rect">
            <a:avLst/>
          </a:prstGeom>
          <a:noFill/>
        </p:spPr>
        <p:txBody>
          <a:bodyPr wrap="none" lIns="0" rIns="0" tIns="0" bIns="0" anchor="t">
            <a:spAutoFit/>
          </a:bodyPr>
          <a:lstStyle/>
          <a:p>
            <a:pPr algn="l"/>
            <a:r>
              <a:rPr b="1" sz="900" i="0" u="none">
                <a:solidFill>
                  <a:srgbClr val="64748B"/>
                </a:solidFill>
                <a:latin typeface="Plus Jakarta Sans"/>
              </a:rPr>
              <a:t>FINAL • WEEK 14</a:t>
            </a:r>
          </a:p>
        </p:txBody>
      </p:sp>
      <p:sp>
        <p:nvSpPr>
          <p:cNvPr id="46" name="TextBox 45"/>
          <p:cNvSpPr txBox="1"/>
          <p:nvPr/>
        </p:nvSpPr>
        <p:spPr>
          <a:xfrm>
            <a:off x="9215437" y="3304133"/>
            <a:ext cx="2976562" cy="171450"/>
          </a:xfrm>
          <a:prstGeom prst="rect">
            <a:avLst/>
          </a:prstGeom>
          <a:noFill/>
        </p:spPr>
        <p:txBody>
          <a:bodyPr wrap="none" lIns="0" rIns="0" tIns="0" bIns="0" anchor="t">
            <a:spAutoFit/>
          </a:bodyPr>
          <a:lstStyle/>
          <a:p>
            <a:pPr algn="l"/>
            <a:r>
              <a:rPr b="1" sz="1050" i="0" u="none">
                <a:solidFill>
                  <a:srgbClr val="0F172A"/>
                </a:solidFill>
                <a:latin typeface="Plus Jakarta Sans"/>
              </a:rPr>
              <a:t>Project Delivery</a:t>
            </a:r>
          </a:p>
        </p:txBody>
      </p:sp>
      <p:sp>
        <p:nvSpPr>
          <p:cNvPr id="47" name="TextBox 46"/>
          <p:cNvSpPr txBox="1"/>
          <p:nvPr/>
        </p:nvSpPr>
        <p:spPr>
          <a:xfrm>
            <a:off x="9215437" y="3532733"/>
            <a:ext cx="2414587" cy="479970"/>
          </a:xfrm>
          <a:prstGeom prst="rect">
            <a:avLst/>
          </a:prstGeom>
          <a:noFill/>
        </p:spPr>
        <p:txBody>
          <a:bodyPr wrap="square" lIns="0" rIns="0" tIns="0" bIns="0" anchor="t">
            <a:spAutoFit/>
          </a:bodyPr>
          <a:lstStyle/>
          <a:p>
            <a:pPr algn="l">
              <a:lnSpc>
                <a:spcPts val="1260"/>
              </a:lnSpc>
            </a:pPr>
            <a:r>
              <a:rPr b="0" sz="900" i="0" u="none">
                <a:solidFill>
                  <a:srgbClr val="64748B"/>
                </a:solidFill>
                <a:latin typeface="Plus Jakarta Sans"/>
              </a:rPr>
              <a:t>Complete defense, research report submission, and containerized Docker delivery.</a:t>
            </a:r>
          </a:p>
        </p:txBody>
      </p:sp>
      <p:sp>
        <p:nvSpPr>
          <p:cNvPr id="48" name="TextBox 47"/>
          <p:cNvSpPr txBox="1"/>
          <p:nvPr/>
        </p:nvSpPr>
        <p:spPr>
          <a:xfrm>
            <a:off x="9215437" y="4127003"/>
            <a:ext cx="2899171" cy="123825"/>
          </a:xfrm>
          <a:prstGeom prst="rect">
            <a:avLst/>
          </a:prstGeom>
          <a:noFill/>
        </p:spPr>
        <p:txBody>
          <a:bodyPr wrap="none" lIns="104775" rIns="0" tIns="0" bIns="0" anchor="t">
            <a:spAutoFit/>
          </a:bodyPr>
          <a:lstStyle/>
          <a:p>
            <a:pPr algn="l"/>
            <a:r>
              <a:rPr b="1" sz="825" i="0" u="none">
                <a:solidFill>
                  <a:srgbClr val="0F172A"/>
                </a:solidFill>
                <a:latin typeface="Plus Jakarta Sans"/>
              </a:rPr>
              <a:t>Planned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731121"/>
            <a:ext cx="11277600" cy="1107281"/>
          </a:xfrm>
          <a:prstGeom prst="roundRect">
            <a:avLst>
              <a:gd name="adj" fmla="val 688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507158"/>
            <a:ext cx="3657600" cy="1071562"/>
          </a:xfrm>
          <a:prstGeom prst="roundRect">
            <a:avLst>
              <a:gd name="adj" fmla="val 711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267200" y="2507158"/>
            <a:ext cx="3657600" cy="1071562"/>
          </a:xfrm>
          <a:prstGeom prst="roundRect">
            <a:avLst>
              <a:gd name="adj" fmla="val 711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77200" y="2507158"/>
            <a:ext cx="3657600" cy="1071562"/>
          </a:xfrm>
          <a:prstGeom prst="roundRect">
            <a:avLst>
              <a:gd name="adj" fmla="val 711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4828877"/>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3731121"/>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3731121"/>
            <a:ext cx="38100" cy="1107281"/>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25275" y="3731121"/>
            <a:ext cx="9525" cy="110728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13" name="TextBox 12"/>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14" name="TextBox 13"/>
          <p:cNvSpPr txBox="1"/>
          <p:nvPr/>
        </p:nvSpPr>
        <p:spPr>
          <a:xfrm>
            <a:off x="11325225" y="6562725"/>
            <a:ext cx="695325" cy="142875"/>
          </a:xfrm>
          <a:prstGeom prst="rect">
            <a:avLst/>
          </a:prstGeom>
          <a:noFill/>
        </p:spPr>
        <p:txBody>
          <a:bodyPr wrap="none" lIns="0" rIns="0" tIns="0" bIns="0" anchor="t">
            <a:spAutoFit/>
          </a:bodyPr>
          <a:lstStyle/>
          <a:p>
            <a:pPr algn="l"/>
            <a:r>
              <a:rPr b="1" sz="900" i="0" u="none">
                <a:solidFill>
                  <a:srgbClr val="64748B"/>
                </a:solidFill>
                <a:latin typeface="Plus Jakarta Sans"/>
              </a:rPr>
              <a:t>Slide 13</a:t>
            </a:r>
          </a:p>
        </p:txBody>
      </p:sp>
      <p:sp>
        <p:nvSpPr>
          <p:cNvPr id="15" name="TextBox 14"/>
          <p:cNvSpPr txBox="1"/>
          <p:nvPr/>
        </p:nvSpPr>
        <p:spPr>
          <a:xfrm>
            <a:off x="457200" y="266700"/>
            <a:ext cx="5107781"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11</a:t>
            </a:r>
          </a:p>
        </p:txBody>
      </p:sp>
      <p:sp>
        <p:nvSpPr>
          <p:cNvPr id="16" name="TextBox 15"/>
          <p:cNvSpPr txBox="1"/>
          <p:nvPr/>
        </p:nvSpPr>
        <p:spPr>
          <a:xfrm>
            <a:off x="457200" y="457200"/>
            <a:ext cx="5363170"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Expected Outcome &amp; Conclusion</a:t>
            </a:r>
          </a:p>
        </p:txBody>
      </p:sp>
      <p:sp>
        <p:nvSpPr>
          <p:cNvPr id="17" name="TextBox 16"/>
          <p:cNvSpPr txBox="1"/>
          <p:nvPr/>
        </p:nvSpPr>
        <p:spPr>
          <a:xfrm>
            <a:off x="685800" y="3912096"/>
            <a:ext cx="11506200" cy="152400"/>
          </a:xfrm>
          <a:prstGeom prst="rect">
            <a:avLst/>
          </a:prstGeom>
          <a:noFill/>
        </p:spPr>
        <p:txBody>
          <a:bodyPr wrap="none" lIns="0" rIns="0" tIns="0" bIns="0" anchor="t">
            <a:spAutoFit/>
          </a:bodyPr>
          <a:lstStyle/>
          <a:p>
            <a:pPr algn="l"/>
            <a:r>
              <a:rPr b="1" sz="975" i="0" u="none">
                <a:solidFill>
                  <a:srgbClr val="0F172A"/>
                </a:solidFill>
                <a:latin typeface="Plus Jakarta Sans"/>
              </a:rPr>
              <a:t>CONCLUSION &amp; FUTURE SCOPE</a:t>
            </a:r>
          </a:p>
        </p:txBody>
      </p:sp>
      <p:sp>
        <p:nvSpPr>
          <p:cNvPr id="18" name="TextBox 17"/>
          <p:cNvSpPr txBox="1"/>
          <p:nvPr/>
        </p:nvSpPr>
        <p:spPr>
          <a:xfrm>
            <a:off x="685800" y="4121646"/>
            <a:ext cx="10944225" cy="535781"/>
          </a:xfrm>
          <a:prstGeom prst="rect">
            <a:avLst/>
          </a:prstGeom>
          <a:noFill/>
        </p:spPr>
        <p:txBody>
          <a:bodyPr wrap="square" lIns="0" rIns="0" tIns="0" bIns="0" anchor="t">
            <a:spAutoFit/>
          </a:bodyPr>
          <a:lstStyle/>
          <a:p>
            <a:pPr algn="l">
              <a:lnSpc>
                <a:spcPts val="1406"/>
              </a:lnSpc>
            </a:pPr>
            <a:r>
              <a:rPr b="0" sz="937" i="0" u="none">
                <a:solidFill>
                  <a:srgbClr val="475569"/>
                </a:solidFill>
                <a:latin typeface="Plus Jakarta Sans"/>
              </a:rPr>
              <a:t>CyberGuard-IDS demonstrates that machine learning models can be effectively deployed beyond offline notebooks into responsive, real-time microservices. By coupling robust feature transformation with FastAPI and Streamlit, network anomalies are detected instantaneously with high statistical confidence. Future iterations will integrate live packet sniffing via Scapy for hardware-level interface deployment.</a:t>
            </a:r>
          </a:p>
        </p:txBody>
      </p:sp>
      <p:sp>
        <p:nvSpPr>
          <p:cNvPr id="19" name="TextBox 18"/>
          <p:cNvSpPr txBox="1"/>
          <p:nvPr/>
        </p:nvSpPr>
        <p:spPr>
          <a:xfrm>
            <a:off x="657225" y="2688133"/>
            <a:ext cx="4275534" cy="152400"/>
          </a:xfrm>
          <a:prstGeom prst="rect">
            <a:avLst/>
          </a:prstGeom>
          <a:noFill/>
        </p:spPr>
        <p:txBody>
          <a:bodyPr wrap="none" lIns="0" rIns="0" tIns="0" bIns="0" anchor="t">
            <a:spAutoFit/>
          </a:bodyPr>
          <a:lstStyle/>
          <a:p>
            <a:pPr algn="l"/>
            <a:r>
              <a:rPr b="1" sz="975" i="0" u="none">
                <a:solidFill>
                  <a:srgbClr val="8B1E23"/>
                </a:solidFill>
                <a:latin typeface="Plus Jakarta Sans"/>
              </a:rPr>
              <a:t>DELIVERABLE</a:t>
            </a:r>
          </a:p>
        </p:txBody>
      </p:sp>
      <p:sp>
        <p:nvSpPr>
          <p:cNvPr id="20" name="TextBox 19"/>
          <p:cNvSpPr txBox="1"/>
          <p:nvPr/>
        </p:nvSpPr>
        <p:spPr>
          <a:xfrm>
            <a:off x="657225" y="2897683"/>
            <a:ext cx="3352800" cy="500062"/>
          </a:xfrm>
          <a:prstGeom prst="rect">
            <a:avLst/>
          </a:prstGeom>
          <a:noFill/>
        </p:spPr>
        <p:txBody>
          <a:bodyPr wrap="square" lIns="0" rIns="0" tIns="0" bIns="0" anchor="t">
            <a:spAutoFit/>
          </a:bodyPr>
          <a:lstStyle/>
          <a:p>
            <a:pPr algn="l">
              <a:lnSpc>
                <a:spcPts val="1312"/>
              </a:lnSpc>
            </a:pPr>
            <a:r>
              <a:rPr b="0" sz="937" i="0" u="none">
                <a:solidFill>
                  <a:srgbClr val="334155"/>
                </a:solidFill>
                <a:latin typeface="Plus Jakarta Sans"/>
              </a:rPr>
              <a:t>A production-ready intrusion detection microservice serving dual-tier threat predictions with an intuitive Streamlit analyst console.</a:t>
            </a:r>
          </a:p>
        </p:txBody>
      </p:sp>
      <p:sp>
        <p:nvSpPr>
          <p:cNvPr id="21" name="TextBox 20"/>
          <p:cNvSpPr txBox="1"/>
          <p:nvPr/>
        </p:nvSpPr>
        <p:spPr>
          <a:xfrm>
            <a:off x="4467225" y="2688133"/>
            <a:ext cx="4275534" cy="152400"/>
          </a:xfrm>
          <a:prstGeom prst="rect">
            <a:avLst/>
          </a:prstGeom>
          <a:noFill/>
        </p:spPr>
        <p:txBody>
          <a:bodyPr wrap="none" lIns="0" rIns="0" tIns="0" bIns="0" anchor="t">
            <a:spAutoFit/>
          </a:bodyPr>
          <a:lstStyle/>
          <a:p>
            <a:pPr algn="l"/>
            <a:r>
              <a:rPr b="1" sz="975" i="0" u="none">
                <a:solidFill>
                  <a:srgbClr val="8B1E23"/>
                </a:solidFill>
                <a:latin typeface="Plus Jakarta Sans"/>
              </a:rPr>
              <a:t>MEASURABLE TARGET</a:t>
            </a:r>
          </a:p>
        </p:txBody>
      </p:sp>
      <p:sp>
        <p:nvSpPr>
          <p:cNvPr id="22" name="TextBox 21"/>
          <p:cNvSpPr txBox="1"/>
          <p:nvPr/>
        </p:nvSpPr>
        <p:spPr>
          <a:xfrm>
            <a:off x="4467225" y="2897683"/>
            <a:ext cx="3352800" cy="500062"/>
          </a:xfrm>
          <a:prstGeom prst="rect">
            <a:avLst/>
          </a:prstGeom>
          <a:noFill/>
        </p:spPr>
        <p:txBody>
          <a:bodyPr wrap="square" lIns="0" rIns="0" tIns="0" bIns="0" anchor="t">
            <a:spAutoFit/>
          </a:bodyPr>
          <a:lstStyle/>
          <a:p>
            <a:pPr algn="l">
              <a:lnSpc>
                <a:spcPts val="1312"/>
              </a:lnSpc>
            </a:pPr>
            <a:r>
              <a:rPr b="0" sz="937" i="0" u="none">
                <a:solidFill>
                  <a:srgbClr val="334155"/>
                </a:solidFill>
                <a:latin typeface="Plus Jakarta Sans"/>
              </a:rPr>
              <a:t>Achieve &gt;99% binary classification accuracy, &gt;97% multiclass weighted F1-score, and sub-50ms inference latency.</a:t>
            </a:r>
          </a:p>
        </p:txBody>
      </p:sp>
      <p:sp>
        <p:nvSpPr>
          <p:cNvPr id="23" name="TextBox 22"/>
          <p:cNvSpPr txBox="1"/>
          <p:nvPr/>
        </p:nvSpPr>
        <p:spPr>
          <a:xfrm>
            <a:off x="8277225" y="2688133"/>
            <a:ext cx="3914775" cy="152400"/>
          </a:xfrm>
          <a:prstGeom prst="rect">
            <a:avLst/>
          </a:prstGeom>
          <a:noFill/>
        </p:spPr>
        <p:txBody>
          <a:bodyPr wrap="none" lIns="0" rIns="0" tIns="0" bIns="0" anchor="t">
            <a:spAutoFit/>
          </a:bodyPr>
          <a:lstStyle/>
          <a:p>
            <a:pPr algn="l"/>
            <a:r>
              <a:rPr b="1" sz="975" i="0" u="none">
                <a:solidFill>
                  <a:srgbClr val="8B1E23"/>
                </a:solidFill>
                <a:latin typeface="Plus Jakarta Sans"/>
              </a:rPr>
              <a:t>BEYOND THE LAB</a:t>
            </a:r>
          </a:p>
        </p:txBody>
      </p:sp>
      <p:sp>
        <p:nvSpPr>
          <p:cNvPr id="24" name="TextBox 23"/>
          <p:cNvSpPr txBox="1"/>
          <p:nvPr/>
        </p:nvSpPr>
        <p:spPr>
          <a:xfrm>
            <a:off x="8277225" y="2897683"/>
            <a:ext cx="3352800" cy="500062"/>
          </a:xfrm>
          <a:prstGeom prst="rect">
            <a:avLst/>
          </a:prstGeom>
          <a:noFill/>
        </p:spPr>
        <p:txBody>
          <a:bodyPr wrap="square" lIns="0" rIns="0" tIns="0" bIns="0" anchor="t">
            <a:spAutoFit/>
          </a:bodyPr>
          <a:lstStyle/>
          <a:p>
            <a:pPr algn="l">
              <a:lnSpc>
                <a:spcPts val="1312"/>
              </a:lnSpc>
            </a:pPr>
            <a:r>
              <a:rPr b="0" sz="937" i="0" u="none">
                <a:solidFill>
                  <a:srgbClr val="334155"/>
                </a:solidFill>
                <a:latin typeface="Plus Jakarta Sans"/>
              </a:rPr>
              <a:t>Applicable across university gateways, small enterprise firewalls, and cloud VPC perimeter security logging systems.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438900"/>
            <a:ext cx="121920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492525"/>
            <a:ext cx="11277600" cy="33337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4492525"/>
            <a:ext cx="38100" cy="333375"/>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38900"/>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48925" y="611385"/>
            <a:ext cx="1285875" cy="142875"/>
          </a:xfrm>
          <a:prstGeom prst="rect">
            <a:avLst/>
          </a:prstGeom>
          <a:noFill/>
        </p:spPr>
        <p:txBody>
          <a:bodyPr wrap="none" lIns="0" rIns="0" tIns="0" bIns="0" anchor="t">
            <a:spAutoFit/>
          </a:bodyPr>
          <a:lstStyle/>
          <a:p>
            <a:pPr algn="r"/>
            <a:r>
              <a:rPr b="1" sz="900" i="0" u="none">
                <a:solidFill>
                  <a:srgbClr val="64748B"/>
                </a:solidFill>
                <a:latin typeface="Plus Jakarta Sans"/>
              </a:rPr>
              <a:t>CyberGuard-IDS</a:t>
            </a:r>
          </a:p>
        </p:txBody>
      </p:sp>
      <p:sp>
        <p:nvSpPr>
          <p:cNvPr id="7" name="TextBox 6"/>
          <p:cNvSpPr txBox="1"/>
          <p:nvPr/>
        </p:nvSpPr>
        <p:spPr>
          <a:xfrm>
            <a:off x="609600" y="4587775"/>
            <a:ext cx="11068050" cy="142875"/>
          </a:xfrm>
          <a:prstGeom prst="rect">
            <a:avLst/>
          </a:prstGeom>
          <a:noFill/>
        </p:spPr>
        <p:txBody>
          <a:bodyPr wrap="square" lIns="0" rIns="0" tIns="0" bIns="0" anchor="t">
            <a:spAutoFit/>
          </a:bodyPr>
          <a:lstStyle/>
          <a:p>
            <a:pPr algn="l"/>
            <a:r>
              <a:rPr b="1" sz="900" i="0" u="none">
                <a:solidFill>
                  <a:srgbClr val="475569"/>
                </a:solidFill>
                <a:latin typeface="Plus Jakarta Sans"/>
              </a:rPr>
              <a:t>Verification Rule:</a:t>
            </a:r>
            <a:r>
              <a:rPr b="0" sz="900" i="0" u="none">
                <a:solidFill>
                  <a:srgbClr val="475569"/>
                </a:solidFill>
                <a:latin typeface="Plus Jakarta Sans"/>
              </a:rPr>
              <a:t> All 4 core literature survey papers from Slide 5 are directly matched and cited in IEEE format above.</a:t>
            </a:r>
          </a:p>
        </p:txBody>
      </p:sp>
      <p:sp>
        <p:nvSpPr>
          <p:cNvPr id="8" name="TextBox 7"/>
          <p:cNvSpPr txBox="1"/>
          <p:nvPr/>
        </p:nvSpPr>
        <p:spPr>
          <a:xfrm>
            <a:off x="457200" y="6562725"/>
            <a:ext cx="3286125" cy="142875"/>
          </a:xfrm>
          <a:prstGeom prst="rect">
            <a:avLst/>
          </a:prstGeom>
          <a:noFill/>
        </p:spPr>
        <p:txBody>
          <a:bodyPr wrap="none" lIns="0" rIns="0" tIns="0" bIns="0" anchor="t">
            <a:spAutoFit/>
          </a:bodyPr>
          <a:lstStyle/>
          <a:p>
            <a:pPr algn="l"/>
            <a:r>
              <a:rPr b="1" sz="900" i="0" u="none">
                <a:solidFill>
                  <a:srgbClr val="64748B"/>
                </a:solidFill>
                <a:latin typeface="Plus Jakarta Sans"/>
              </a:rPr>
              <a:t>Dept. of CSE | KL University, Bachupally Campus</a:t>
            </a:r>
          </a:p>
        </p:txBody>
      </p:sp>
      <p:sp>
        <p:nvSpPr>
          <p:cNvPr id="9" name="TextBox 8"/>
          <p:cNvSpPr txBox="1"/>
          <p:nvPr/>
        </p:nvSpPr>
        <p:spPr>
          <a:xfrm>
            <a:off x="11315700" y="6562725"/>
            <a:ext cx="704850" cy="142875"/>
          </a:xfrm>
          <a:prstGeom prst="rect">
            <a:avLst/>
          </a:prstGeom>
          <a:noFill/>
        </p:spPr>
        <p:txBody>
          <a:bodyPr wrap="none" lIns="0" rIns="0" tIns="0" bIns="0" anchor="t">
            <a:spAutoFit/>
          </a:bodyPr>
          <a:lstStyle/>
          <a:p>
            <a:pPr algn="l"/>
            <a:r>
              <a:rPr b="1" sz="900" i="0" u="none">
                <a:solidFill>
                  <a:srgbClr val="64748B"/>
                </a:solidFill>
                <a:latin typeface="Plus Jakarta Sans"/>
              </a:rPr>
              <a:t>Slide 14</a:t>
            </a:r>
          </a:p>
        </p:txBody>
      </p:sp>
      <p:sp>
        <p:nvSpPr>
          <p:cNvPr id="10" name="TextBox 9"/>
          <p:cNvSpPr txBox="1"/>
          <p:nvPr/>
        </p:nvSpPr>
        <p:spPr>
          <a:xfrm>
            <a:off x="457200" y="266700"/>
            <a:ext cx="3536156" cy="152400"/>
          </a:xfrm>
          <a:prstGeom prst="rect">
            <a:avLst/>
          </a:prstGeom>
          <a:noFill/>
        </p:spPr>
        <p:txBody>
          <a:bodyPr wrap="none" lIns="0" rIns="0" tIns="0" bIns="0" anchor="t">
            <a:spAutoFit/>
          </a:bodyPr>
          <a:lstStyle/>
          <a:p>
            <a:pPr algn="l"/>
            <a:r>
              <a:rPr b="1" sz="975" i="0" u="none">
                <a:solidFill>
                  <a:srgbClr val="8B1E23"/>
                </a:solidFill>
                <a:latin typeface="Plus Jakarta Sans"/>
              </a:rPr>
              <a:t>SECTION 12</a:t>
            </a:r>
          </a:p>
        </p:txBody>
      </p:sp>
      <p:sp>
        <p:nvSpPr>
          <p:cNvPr id="11" name="TextBox 10"/>
          <p:cNvSpPr txBox="1"/>
          <p:nvPr/>
        </p:nvSpPr>
        <p:spPr>
          <a:xfrm>
            <a:off x="457200" y="457200"/>
            <a:ext cx="3712964" cy="297060"/>
          </a:xfrm>
          <a:prstGeom prst="rect">
            <a:avLst/>
          </a:prstGeom>
          <a:noFill/>
        </p:spPr>
        <p:txBody>
          <a:bodyPr wrap="none" lIns="0" rIns="0" tIns="0" bIns="0" anchor="t">
            <a:spAutoFit/>
          </a:bodyPr>
          <a:lstStyle/>
          <a:p>
            <a:pPr algn="l">
              <a:lnSpc>
                <a:spcPts val="2340"/>
              </a:lnSpc>
            </a:pPr>
            <a:r>
              <a:rPr b="1" sz="1950" i="0" u="none">
                <a:solidFill>
                  <a:srgbClr val="0F172A"/>
                </a:solidFill>
                <a:latin typeface="Plus Jakarta Sans"/>
              </a:rPr>
              <a:t>References (IEEE Style)</a:t>
            </a:r>
          </a:p>
        </p:txBody>
      </p:sp>
      <p:sp>
        <p:nvSpPr>
          <p:cNvPr id="12" name="TextBox 11"/>
          <p:cNvSpPr txBox="1"/>
          <p:nvPr/>
        </p:nvSpPr>
        <p:spPr>
          <a:xfrm>
            <a:off x="457200" y="2519660"/>
            <a:ext cx="11734800" cy="165645"/>
          </a:xfrm>
          <a:prstGeom prst="rect">
            <a:avLst/>
          </a:prstGeom>
          <a:noFill/>
        </p:spPr>
        <p:txBody>
          <a:bodyPr wrap="none" lIns="0" rIns="0" tIns="0" bIns="0" anchor="t">
            <a:spAutoFit/>
          </a:bodyPr>
          <a:lstStyle/>
          <a:p>
            <a:pPr algn="l">
              <a:lnSpc>
                <a:spcPts val="1305"/>
              </a:lnSpc>
            </a:pPr>
            <a:r>
              <a:rPr b="0" sz="900" i="0" u="none">
                <a:solidFill>
                  <a:srgbClr val="334155"/>
                </a:solidFill>
                <a:latin typeface="Plus Jakarta Sans"/>
              </a:rPr>
              <a:t>[1] M. Tavallaee, E. Bagheri, W. Lu, and A. A. Ghorbani, "A detailed analysis of the KDD CUP 99 data set," in </a:t>
            </a:r>
            <a:r>
              <a:rPr b="0" sz="900" i="1" u="none">
                <a:solidFill>
                  <a:srgbClr val="334155"/>
                </a:solidFill>
                <a:latin typeface="Plus Jakarta Sans"/>
              </a:rPr>
              <a:t>Proc. IEEE CISDA</a:t>
            </a:r>
            <a:r>
              <a:rPr b="0" sz="900" i="0" u="none">
                <a:solidFill>
                  <a:srgbClr val="334155"/>
                </a:solidFill>
                <a:latin typeface="Plus Jakarta Sans"/>
              </a:rPr>
              <a:t>, 2009, pp. 1–6.</a:t>
            </a:r>
          </a:p>
        </p:txBody>
      </p:sp>
      <p:sp>
        <p:nvSpPr>
          <p:cNvPr id="13" name="TextBox 12"/>
          <p:cNvSpPr txBox="1"/>
          <p:nvPr/>
        </p:nvSpPr>
        <p:spPr>
          <a:xfrm>
            <a:off x="457200" y="2761505"/>
            <a:ext cx="11734800" cy="165645"/>
          </a:xfrm>
          <a:prstGeom prst="rect">
            <a:avLst/>
          </a:prstGeom>
          <a:noFill/>
        </p:spPr>
        <p:txBody>
          <a:bodyPr wrap="none" lIns="0" rIns="0" tIns="0" bIns="0" anchor="t">
            <a:spAutoFit/>
          </a:bodyPr>
          <a:lstStyle/>
          <a:p>
            <a:pPr algn="l">
              <a:lnSpc>
                <a:spcPts val="1305"/>
              </a:lnSpc>
            </a:pPr>
            <a:r>
              <a:rPr b="0" sz="900" i="0" u="none">
                <a:solidFill>
                  <a:srgbClr val="334155"/>
                </a:solidFill>
                <a:latin typeface="Plus Jakarta Sans"/>
              </a:rPr>
              <a:t>[2] R. Kumar, A. Sharma, and P. K. Singh, "Machine learning based network intrusion detection using hybrid ensemble classifiers," </a:t>
            </a:r>
            <a:r>
              <a:rPr b="0" sz="900" i="1" u="none">
                <a:solidFill>
                  <a:srgbClr val="334155"/>
                </a:solidFill>
                <a:latin typeface="Plus Jakarta Sans"/>
              </a:rPr>
              <a:t>Expert Systems with Applications</a:t>
            </a:r>
            <a:r>
              <a:rPr b="0" sz="900" i="0" u="none">
                <a:solidFill>
                  <a:srgbClr val="334155"/>
                </a:solidFill>
                <a:latin typeface="Plus Jakarta Sans"/>
              </a:rPr>
              <a:t>, vol. 238, p. 122110, 2026.</a:t>
            </a:r>
          </a:p>
        </p:txBody>
      </p:sp>
      <p:sp>
        <p:nvSpPr>
          <p:cNvPr id="14" name="TextBox 13"/>
          <p:cNvSpPr txBox="1"/>
          <p:nvPr/>
        </p:nvSpPr>
        <p:spPr>
          <a:xfrm>
            <a:off x="457200" y="3003351"/>
            <a:ext cx="11734800" cy="165645"/>
          </a:xfrm>
          <a:prstGeom prst="rect">
            <a:avLst/>
          </a:prstGeom>
          <a:noFill/>
        </p:spPr>
        <p:txBody>
          <a:bodyPr wrap="none" lIns="0" rIns="0" tIns="0" bIns="0" anchor="t">
            <a:spAutoFit/>
          </a:bodyPr>
          <a:lstStyle/>
          <a:p>
            <a:pPr algn="l">
              <a:lnSpc>
                <a:spcPts val="1305"/>
              </a:lnSpc>
            </a:pPr>
            <a:r>
              <a:rPr b="0" sz="900" i="0" u="none">
                <a:solidFill>
                  <a:srgbClr val="334155"/>
                </a:solidFill>
                <a:latin typeface="Plus Jakarta Sans"/>
              </a:rPr>
              <a:t>[3] Y. Zhang and K. Patel, "Deep autoencoders and PCA-driven dimensionality reduction for high-throughput anomaly detection," </a:t>
            </a:r>
            <a:r>
              <a:rPr b="0" sz="900" i="1" u="none">
                <a:solidFill>
                  <a:srgbClr val="334155"/>
                </a:solidFill>
                <a:latin typeface="Plus Jakarta Sans"/>
              </a:rPr>
              <a:t>IEEE Access</a:t>
            </a:r>
            <a:r>
              <a:rPr b="0" sz="900" i="0" u="none">
                <a:solidFill>
                  <a:srgbClr val="334155"/>
                </a:solidFill>
                <a:latin typeface="Plus Jakarta Sans"/>
              </a:rPr>
              <a:t>, vol. 13, pp. 4521–4534, 2025.</a:t>
            </a:r>
          </a:p>
        </p:txBody>
      </p:sp>
      <p:sp>
        <p:nvSpPr>
          <p:cNvPr id="15" name="TextBox 14"/>
          <p:cNvSpPr txBox="1"/>
          <p:nvPr/>
        </p:nvSpPr>
        <p:spPr>
          <a:xfrm>
            <a:off x="457200" y="3245197"/>
            <a:ext cx="11734800" cy="165645"/>
          </a:xfrm>
          <a:prstGeom prst="rect">
            <a:avLst/>
          </a:prstGeom>
          <a:noFill/>
        </p:spPr>
        <p:txBody>
          <a:bodyPr wrap="none" lIns="0" rIns="0" tIns="0" bIns="0" anchor="t">
            <a:spAutoFit/>
          </a:bodyPr>
          <a:lstStyle/>
          <a:p>
            <a:pPr algn="l">
              <a:lnSpc>
                <a:spcPts val="1305"/>
              </a:lnSpc>
            </a:pPr>
            <a:r>
              <a:rPr b="0" sz="900" i="0" u="none">
                <a:solidFill>
                  <a:srgbClr val="334155"/>
                </a:solidFill>
                <a:latin typeface="Plus Jakarta Sans"/>
              </a:rPr>
              <a:t>[4] F. Al-Hawari, N. Mansoor, and M. Z. Hasan, "Multiclass cyberattack detection in IoT and cloud networks using balanced gradient boosted trees," </a:t>
            </a:r>
            <a:r>
              <a:rPr b="0" sz="900" i="1" u="none">
                <a:solidFill>
                  <a:srgbClr val="334155"/>
                </a:solidFill>
                <a:latin typeface="Plus Jakarta Sans"/>
              </a:rPr>
              <a:t>Computers &amp; Security</a:t>
            </a:r>
            <a:r>
              <a:rPr b="0" sz="900" i="0" u="none">
                <a:solidFill>
                  <a:srgbClr val="334155"/>
                </a:solidFill>
                <a:latin typeface="Plus Jakarta Sans"/>
              </a:rPr>
              <a:t>, vol. 142, p. 103890, 2025.</a:t>
            </a:r>
          </a:p>
        </p:txBody>
      </p:sp>
      <p:sp>
        <p:nvSpPr>
          <p:cNvPr id="16" name="TextBox 15"/>
          <p:cNvSpPr txBox="1"/>
          <p:nvPr/>
        </p:nvSpPr>
        <p:spPr>
          <a:xfrm>
            <a:off x="457200" y="3487042"/>
            <a:ext cx="11734800" cy="165645"/>
          </a:xfrm>
          <a:prstGeom prst="rect">
            <a:avLst/>
          </a:prstGeom>
          <a:noFill/>
        </p:spPr>
        <p:txBody>
          <a:bodyPr wrap="none" lIns="0" rIns="0" tIns="0" bIns="0" anchor="t">
            <a:spAutoFit/>
          </a:bodyPr>
          <a:lstStyle/>
          <a:p>
            <a:pPr algn="l">
              <a:lnSpc>
                <a:spcPts val="1305"/>
              </a:lnSpc>
            </a:pPr>
            <a:r>
              <a:rPr b="0" sz="900" i="0" u="none">
                <a:solidFill>
                  <a:srgbClr val="334155"/>
                </a:solidFill>
                <a:latin typeface="Plus Jakarta Sans"/>
              </a:rPr>
              <a:t>[5] V. Sharma and R. Verma, "Feature selection and statistical drift detection in modern network telemetry pipelines," in </a:t>
            </a:r>
            <a:r>
              <a:rPr b="0" sz="900" i="1" u="none">
                <a:solidFill>
                  <a:srgbClr val="334155"/>
                </a:solidFill>
                <a:latin typeface="Plus Jakarta Sans"/>
              </a:rPr>
              <a:t>Proc. IEEE Int. Conf. on Cyber Security (ICCS)</a:t>
            </a:r>
            <a:r>
              <a:rPr b="0" sz="900" i="0" u="none">
                <a:solidFill>
                  <a:srgbClr val="334155"/>
                </a:solidFill>
                <a:latin typeface="Plus Jakarta Sans"/>
              </a:rPr>
              <a:t>, 2024, pp. 112–119.</a:t>
            </a:r>
          </a:p>
        </p:txBody>
      </p:sp>
      <p:sp>
        <p:nvSpPr>
          <p:cNvPr id="17" name="TextBox 16"/>
          <p:cNvSpPr txBox="1"/>
          <p:nvPr/>
        </p:nvSpPr>
        <p:spPr>
          <a:xfrm>
            <a:off x="457200" y="3728888"/>
            <a:ext cx="11734800" cy="165645"/>
          </a:xfrm>
          <a:prstGeom prst="rect">
            <a:avLst/>
          </a:prstGeom>
          <a:noFill/>
        </p:spPr>
        <p:txBody>
          <a:bodyPr wrap="none" lIns="0" rIns="0" tIns="0" bIns="0" anchor="t">
            <a:spAutoFit/>
          </a:bodyPr>
          <a:lstStyle/>
          <a:p>
            <a:pPr algn="l">
              <a:lnSpc>
                <a:spcPts val="1305"/>
              </a:lnSpc>
            </a:pPr>
            <a:r>
              <a:rPr b="0" sz="900" i="0" u="none">
                <a:solidFill>
                  <a:srgbClr val="334155"/>
                </a:solidFill>
                <a:latin typeface="Plus Jakarta Sans"/>
              </a:rPr>
              <a:t>[6] S. Tiwary and M. Gupta, "Comparative assessment of Random Forest and XGBoost for DoS and Probe intrusion mitigation," </a:t>
            </a:r>
            <a:r>
              <a:rPr b="0" sz="900" i="1" u="none">
                <a:solidFill>
                  <a:srgbClr val="334155"/>
                </a:solidFill>
                <a:latin typeface="Plus Jakarta Sans"/>
              </a:rPr>
              <a:t>Journal of Information Security and Applications</a:t>
            </a:r>
            <a:r>
              <a:rPr b="0" sz="900" i="0" u="none">
                <a:solidFill>
                  <a:srgbClr val="334155"/>
                </a:solidFill>
                <a:latin typeface="Plus Jakarta Sans"/>
              </a:rPr>
              <a:t>, vol. 78, p. 103601, 2024.</a:t>
            </a:r>
          </a:p>
        </p:txBody>
      </p:sp>
      <p:sp>
        <p:nvSpPr>
          <p:cNvPr id="18" name="TextBox 17"/>
          <p:cNvSpPr txBox="1"/>
          <p:nvPr/>
        </p:nvSpPr>
        <p:spPr>
          <a:xfrm>
            <a:off x="457200" y="3970734"/>
            <a:ext cx="11734800" cy="165645"/>
          </a:xfrm>
          <a:prstGeom prst="rect">
            <a:avLst/>
          </a:prstGeom>
          <a:noFill/>
        </p:spPr>
        <p:txBody>
          <a:bodyPr wrap="none" lIns="0" rIns="0" tIns="0" bIns="0" anchor="t">
            <a:spAutoFit/>
          </a:bodyPr>
          <a:lstStyle/>
          <a:p>
            <a:pPr algn="l">
              <a:lnSpc>
                <a:spcPts val="1305"/>
              </a:lnSpc>
            </a:pPr>
            <a:r>
              <a:rPr b="0" sz="900" i="0" u="none">
                <a:solidFill>
                  <a:srgbClr val="334155"/>
                </a:solidFill>
                <a:latin typeface="Plus Jakarta Sans"/>
              </a:rPr>
              <a:t>[7] T. Hastie, R. Tibshirani, and J. Friedman, </a:t>
            </a:r>
            <a:r>
              <a:rPr b="0" sz="900" i="1" u="none">
                <a:solidFill>
                  <a:srgbClr val="334155"/>
                </a:solidFill>
                <a:latin typeface="Plus Jakarta Sans"/>
              </a:rPr>
              <a:t>The Elements of Statistical Learning: Data Mining, Inference, and Prediction</a:t>
            </a:r>
            <a:r>
              <a:rPr b="0" sz="900" i="0" u="none">
                <a:solidFill>
                  <a:srgbClr val="334155"/>
                </a:solidFill>
                <a:latin typeface="Plus Jakarta Sans"/>
              </a:rPr>
              <a:t>, 2nd ed. New York: Springer, 2017.</a:t>
            </a:r>
          </a:p>
        </p:txBody>
      </p:sp>
      <p:sp>
        <p:nvSpPr>
          <p:cNvPr id="19" name="TextBox 18"/>
          <p:cNvSpPr txBox="1"/>
          <p:nvPr/>
        </p:nvSpPr>
        <p:spPr>
          <a:xfrm>
            <a:off x="457200" y="4212580"/>
            <a:ext cx="11734800" cy="165645"/>
          </a:xfrm>
          <a:prstGeom prst="rect">
            <a:avLst/>
          </a:prstGeom>
          <a:noFill/>
        </p:spPr>
        <p:txBody>
          <a:bodyPr wrap="none" lIns="0" rIns="0" tIns="0" bIns="0" anchor="t">
            <a:spAutoFit/>
          </a:bodyPr>
          <a:lstStyle/>
          <a:p>
            <a:pPr algn="l">
              <a:lnSpc>
                <a:spcPts val="1305"/>
              </a:lnSpc>
            </a:pPr>
            <a:r>
              <a:rPr b="0" sz="900" i="0" u="none">
                <a:solidFill>
                  <a:srgbClr val="334155"/>
                </a:solidFill>
                <a:latin typeface="Plus Jakarta Sans"/>
              </a:rPr>
              <a:t>[8] Canadian Institute for Cybersecurity (CIC), "NSL-KDD Dataset Repository," University of New Brunswick, 2023. [Online]. Available: https://www.unb.ca/cic/datasets/nsl.html.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81525" y="1952178"/>
            <a:ext cx="3028950" cy="285750"/>
          </a:xfrm>
          <a:prstGeom prst="roundRect">
            <a:avLst>
              <a:gd name="adj" fmla="val 50000"/>
            </a:avLst>
          </a:prstGeom>
          <a:solidFill>
            <a:srgbClr val="251C2D"/>
          </a:solidFill>
          <a:ln w="9525">
            <a:solidFill>
              <a:srgbClr val="5225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91200" y="3761928"/>
            <a:ext cx="609600" cy="28575"/>
          </a:xfrm>
          <a:prstGeom prst="rect">
            <a:avLst/>
          </a:prstGeom>
          <a:solidFill>
            <a:srgbClr val="8B1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55306" y="2009328"/>
            <a:ext cx="3481387" cy="171450"/>
          </a:xfrm>
          <a:prstGeom prst="rect">
            <a:avLst/>
          </a:prstGeom>
          <a:noFill/>
        </p:spPr>
        <p:txBody>
          <a:bodyPr wrap="square" lIns="0" rIns="0" tIns="0" bIns="0" anchor="t">
            <a:spAutoFit/>
          </a:bodyPr>
          <a:lstStyle/>
          <a:p>
            <a:pPr algn="ctr"/>
            <a:r>
              <a:rPr b="1" sz="975" i="0" u="none">
                <a:solidFill>
                  <a:srgbClr val="F87171"/>
                </a:solidFill>
                <a:latin typeface="Plus Jakarta Sans"/>
              </a:rPr>
              <a:t>KL UNIVERSITY • BACHUPALLY CAMPUS</a:t>
            </a:r>
          </a:p>
        </p:txBody>
      </p:sp>
      <p:sp>
        <p:nvSpPr>
          <p:cNvPr id="5" name="TextBox 4"/>
          <p:cNvSpPr txBox="1"/>
          <p:nvPr/>
        </p:nvSpPr>
        <p:spPr>
          <a:xfrm>
            <a:off x="4489549" y="2428428"/>
            <a:ext cx="3212901" cy="628650"/>
          </a:xfrm>
          <a:prstGeom prst="rect">
            <a:avLst/>
          </a:prstGeom>
          <a:noFill/>
        </p:spPr>
        <p:txBody>
          <a:bodyPr wrap="none" lIns="0" rIns="0" tIns="0" bIns="0" anchor="t">
            <a:spAutoFit/>
          </a:bodyPr>
          <a:lstStyle/>
          <a:p>
            <a:pPr algn="ctr"/>
            <a:r>
              <a:rPr b="1" sz="3900" i="0" u="none">
                <a:solidFill>
                  <a:srgbClr val="FFFFFF"/>
                </a:solidFill>
                <a:latin typeface="Space Grotesk"/>
              </a:rPr>
              <a:t>Thank You</a:t>
            </a:r>
          </a:p>
        </p:txBody>
      </p:sp>
      <p:sp>
        <p:nvSpPr>
          <p:cNvPr id="6" name="TextBox 5"/>
          <p:cNvSpPr txBox="1"/>
          <p:nvPr/>
        </p:nvSpPr>
        <p:spPr>
          <a:xfrm>
            <a:off x="4524375" y="3190428"/>
            <a:ext cx="3143250" cy="266700"/>
          </a:xfrm>
          <a:prstGeom prst="rect">
            <a:avLst/>
          </a:prstGeom>
          <a:noFill/>
        </p:spPr>
        <p:txBody>
          <a:bodyPr wrap="none" lIns="0" rIns="0" tIns="0" bIns="0" anchor="t">
            <a:spAutoFit/>
          </a:bodyPr>
          <a:lstStyle/>
          <a:p>
            <a:pPr algn="ctr"/>
            <a:r>
              <a:rPr b="1" sz="1650" i="0" u="none">
                <a:solidFill>
                  <a:srgbClr val="94A3B8"/>
                </a:solidFill>
                <a:latin typeface="Plus Jakarta Sans"/>
              </a:rPr>
              <a:t>Questions &amp; Suggestions</a:t>
            </a:r>
          </a:p>
        </p:txBody>
      </p:sp>
      <p:sp>
        <p:nvSpPr>
          <p:cNvPr id="7" name="TextBox 6"/>
          <p:cNvSpPr txBox="1"/>
          <p:nvPr/>
        </p:nvSpPr>
        <p:spPr>
          <a:xfrm>
            <a:off x="2684859" y="4095303"/>
            <a:ext cx="6822281" cy="242887"/>
          </a:xfrm>
          <a:prstGeom prst="rect">
            <a:avLst/>
          </a:prstGeom>
          <a:noFill/>
        </p:spPr>
        <p:txBody>
          <a:bodyPr wrap="none" lIns="0" rIns="0" tIns="0" bIns="0" anchor="t">
            <a:spAutoFit/>
          </a:bodyPr>
          <a:lstStyle/>
          <a:p>
            <a:pPr algn="ctr">
              <a:lnSpc>
                <a:spcPts val="1912"/>
              </a:lnSpc>
            </a:pPr>
            <a:r>
              <a:rPr b="1" sz="1125" i="0" u="none">
                <a:solidFill>
                  <a:srgbClr val="CBD5E1"/>
                </a:solidFill>
                <a:latin typeface="Plus Jakarta Sans"/>
              </a:rPr>
              <a:t>Team 30 (Section 1):</a:t>
            </a:r>
            <a:r>
              <a:rPr b="0" sz="1125" i="0" u="none">
                <a:solidFill>
                  <a:srgbClr val="CBD5E1"/>
                </a:solidFill>
                <a:latin typeface="Plus Jakarta Sans"/>
              </a:rPr>
              <a:t> Harivikash Katta (2520030203) &amp; Navadeep (2520030196)</a:t>
            </a:r>
          </a:p>
        </p:txBody>
      </p:sp>
      <p:sp>
        <p:nvSpPr>
          <p:cNvPr id="8" name="TextBox 7"/>
          <p:cNvSpPr txBox="1"/>
          <p:nvPr/>
        </p:nvSpPr>
        <p:spPr>
          <a:xfrm>
            <a:off x="2684859" y="4376291"/>
            <a:ext cx="6822281" cy="242887"/>
          </a:xfrm>
          <a:prstGeom prst="rect">
            <a:avLst/>
          </a:prstGeom>
          <a:noFill/>
        </p:spPr>
        <p:txBody>
          <a:bodyPr wrap="none" lIns="0" rIns="0" tIns="0" bIns="0" anchor="t">
            <a:spAutoFit/>
          </a:bodyPr>
          <a:lstStyle/>
          <a:p>
            <a:pPr algn="ctr">
              <a:lnSpc>
                <a:spcPts val="1912"/>
              </a:lnSpc>
            </a:pPr>
            <a:r>
              <a:rPr b="1" sz="1125" i="0" u="none">
                <a:solidFill>
                  <a:srgbClr val="94A3B8"/>
                </a:solidFill>
                <a:latin typeface="Plus Jakarta Sans"/>
              </a:rPr>
              <a:t>Under the Guidance of:</a:t>
            </a:r>
            <a:r>
              <a:rPr b="0" sz="1125" i="0" u="none">
                <a:solidFill>
                  <a:srgbClr val="94A3B8"/>
                </a:solidFill>
                <a:latin typeface="Plus Jakarta Sans"/>
              </a:rPr>
              <a:t> Dr. G. S. Raghavendra • Department of CSE</a:t>
            </a:r>
          </a:p>
        </p:txBody>
      </p:sp>
      <p:sp>
        <p:nvSpPr>
          <p:cNvPr id="9" name="TextBox 8"/>
          <p:cNvSpPr txBox="1"/>
          <p:nvPr/>
        </p:nvSpPr>
        <p:spPr>
          <a:xfrm>
            <a:off x="2684859" y="4695378"/>
            <a:ext cx="6822281" cy="210442"/>
          </a:xfrm>
          <a:prstGeom prst="rect">
            <a:avLst/>
          </a:prstGeom>
          <a:noFill/>
        </p:spPr>
        <p:txBody>
          <a:bodyPr wrap="none" lIns="0" rIns="0" tIns="0" bIns="0" anchor="t">
            <a:spAutoFit/>
          </a:bodyPr>
          <a:lstStyle/>
          <a:p>
            <a:pPr algn="ctr">
              <a:lnSpc>
                <a:spcPts val="1657"/>
              </a:lnSpc>
            </a:pPr>
            <a:r>
              <a:rPr b="0" sz="975" i="0" u="none">
                <a:solidFill>
                  <a:srgbClr val="64748B"/>
                </a:solidFill>
                <a:latin typeface="Plus Jakarta Sans"/>
              </a:rPr>
              <a:t>B.Tech Computer Science &amp; Engineering • Review 1 (A.Y.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